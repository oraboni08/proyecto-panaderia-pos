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A7563"/>
                </a:solidFill>
                <a:latin typeface="Arial"/>
              </a:defRPr>
            </a:pPr>
            <a:r>
              <a:rPr sz="1300" b="0" i="0" u="none" strike="noStrike">
                <a:solidFill>
                  <a:srgbClr val="8A7563"/>
                </a:solidFill>
                <a:latin typeface="Arial"/>
              </a:rPr>
              <a:t>Pruebas aprobadas por suite</a:t>
            </a:r>
          </a:p>
        </c:rich>
      </c:tx>
      <c:layout/>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A5582C"/>
            </a:solidFill>
            <a:effectLst/>
          </c:spPr>
          <c:invertIfNegative val="0"/>
          <c:dLbls>
            <c:numFmt formatCode="#,##0" sourceLinked="0"/>
            <c:txPr>
              <a:bodyPr/>
              <a:lstStyle/>
              <a:p>
                <a:pPr>
                  <a:defRPr b="0" i="0" strike="noStrike" sz="1200" u="none">
                    <a:solidFill>
                      <a:srgbClr val="3B2A1E"/>
                    </a:solidFill>
                    <a:latin typeface="Arial"/>
                  </a:defRPr>
                </a:pPr>
              </a:p>
            </c:txPr>
            <c:showLegendKey val="0"/>
            <c:showVal val="1"/>
            <c:showCatName val="0"/>
            <c:showSerName val="0"/>
            <c:showPercent val="0"/>
            <c:showBubbleSize val="0"/>
            <c:showLeaderLines val="0"/>
          </c:dLbls>
          <c:cat>
            <c:multiLvlStrRef>
              <c:f>Sheet1!$A$2:$A$5</c:f>
              <c:multiLvlStrCache>
                <c:ptCount val="4"/>
                <c:lvl>
                  <c:pt idx="0">
                    <c:v>integración</c:v>
                  </c:pt>
                  <c:pt idx="1">
                    <c:v>sales</c:v>
                  </c:pt>
                  <c:pt idx="2">
                    <c:v>auth</c:v>
                  </c:pt>
                  <c:pt idx="3">
                    <c:v>catalog</c:v>
                  </c:pt>
                </c:lvl>
              </c:multiLvlStrCache>
            </c:multiLvlStrRef>
          </c:cat>
          <c:val>
            <c:numRef>
              <c:f>Sheet1!$B$2:$B$5</c:f>
              <c:numCache>
                <c:formatCode>General</c:formatCode>
                <c:ptCount val="4"/>
                <c:pt idx="0">
                  <c:v>8</c:v>
                </c:pt>
                <c:pt idx="1">
                  <c:v>39</c:v>
                </c:pt>
                <c:pt idx="2">
                  <c:v>30</c:v>
                </c:pt>
                <c:pt idx="3">
                  <c:v>28</c:v>
                </c:pt>
              </c:numCache>
            </c:numRef>
          </c:val>
        </c:ser>
        <c:dLbls>
          <c:numFmt formatCode="#,##0" sourceLinked="0"/>
          <c:txPr>
            <a:bodyPr/>
            <a:lstStyle/>
            <a:p>
              <a:pPr>
                <a:defRPr b="0" i="0" strike="noStrike" sz="1200" u="none">
                  <a:solidFill>
                    <a:srgbClr val="3B2A1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B2A1E"/>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proyecto Panadería POS: una aplicación web que le muestra al dueño de una panadería dashboards con sus ventas y le permite al cajero registrar ventas. Se construyó con microservicios accedidos por API REST y se desplegó en máquinas virtuales con Vagrant, con acceso por el dominio panaderia-pos.test.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siguió las cuatro fases del enunciado. Definición y diseño valen 20% cada una; implementación y pruebas, y despliegue, 30% cada una. Partimos del back-end inicial del repositorio y sobre él construimos y verificamos cada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el POS de la panadería guarda las ventas en archivos que nadie analiza. Identificamos 11 necesidades del dueño y del cajero; las más importantes están a la derecha. De ellas salieron 16 requerimientos funcionales, cada uno ligado a una necesidad.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viene de Kaggle: 42 productos, 210 clientes y 1.203 ventas de una semana. Como solo hay una semana, los dashboards comparan por día de la semana, producto y cliente. No modificamos los CSV: las adaptaciones se hacen al cargarlos. Detectamos que 11 ventas tienen cantidades decimales; 10 son productos vendidos por peso y una es media docena de huevos.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enunciado pide mínimo dos tipos de usuario. El administrador es el dueño: ve el dashboard, administra el catálogo, consulta el historial y crea usuarios. El cajero solo registra ventas y ve sus ventas del día. Si un cajero intenta entrar a una función de administrador, el back-end responde 403: la protección no depende de esconder botones.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1 deja 16 requerimientos funcionales, 8 no funcionales y 21 reglas de negocio. Las reglas son lo que diría el gerente, no el programador: por ejemplo, que un producto con ventas no se borra sino que se desactiva, o que el total debe ser exactamente la suma de los subtotales, que es el ejemplo de facturación visto en clase. Cada requerimiento tiene una prueba automática que lo demuestra (Fase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máquinas virtuales en una red privada. El cliente primero pregunta al DNS por el nombre, luego descarga la página del front-vm y, desde la página, el JavaScript llama a la API en back-vm. Allí Nginx funciona como API Gateway: según el inicio de la ruta reenvía al microservicio correcto. Cada microservicio tiene su propia base SQLite; cuando ventas necesita un producto, se lo pide a catálogo por REST. Front y back están en servidores distintos, como exige el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decisiones más importantes. Una base por microservicio es la regla básica de los microservicios: el código inicial hacía ATTACH a la base del otro servicio y eso se corrigió. JWT mantiene la API sin estado, una de las cuatro reglas REST vistas en clase. El dominio termina en .test porque es reservado para pruebas y porque .local lo captura Bonjour en Mac, donde trabaja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microservicio expone sus endpoints bajo /api/v1. Seguimos las reglas REST: el login es POST /tokens, porque iniciar sesión es crear un token, no un verbo en la URL. No existe DELETE de productos ni de usuarios porque las reglas dicen que se desactivan; se hace con PATCH. El historial solo tiene GET porque no se puede modificar. Cada respuesta usa el código correcto: 201 al crear, 404 si no existe, 409 si el nombre se repite, 403 si el rol no tiene permiso.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microservicio tiene las cuatro capas de la clase. La dependencia va hacia adentro: el dominio no conoce FastAPI ni SQLAlchemy ni HTTP. El mejor ejemplo es ventas: el servicio de dominio solo conoce el contrato ProductCatalog; la implementación real consulta a catálogo por REST y en las pruebas usamos un catálogo falso en memoria. Es la misma idea del contrato TaskRepository del proyecto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bases SQLite, una por microservicio. Como están separadas, no hay llaves foráneas entre bases: ventas guarda el id del producto como referencia lógica, lo valida por REST al vender y copia el nombre y el precio, como un ticket. Así un cambio de precio no altera las ventas pasadas. Las contraseñas solo se guardan cifradas con bcrypt.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front-end está hecho en HTML, CSS y JavaScript sin frameworks, siguiendo el estilo de los mockups. El dashboard del administrador muestra los indicadores, las gráficas y las tablas; los números coinciden con el análisis del dataset. En catálogo se crean, editan y desactivan productos, y cada cambio se registra en el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pantalla del cajero tiene el buscador de clientes, el carrito y las ventas del día. Si el producto se vende por peso, el campo pide gramos. Mientras arma el carrito el navegador muestra el total, pero al cobrar se envía una sola petición y el back-end vuelve a calcular todo con sus precios: eso cumple la regla de que el total lo calcula el back, porque el navegador se puede manipular. La venta es una transacción: si una línea no cumple, no se guarda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105 pruebas automáticas y todas pasan. Las unitarias prueban las reglas sin base de datos; las de API prueban cada servicio completo con el dataset real, por ejemplo que el resumen dé 1.203 ventas; las de integración prueban los tres servicios juntos, como que un cambio de precio no altere ventas anteriores. En el documento de la Fase 3 hay una tabla que relaciona cada requerimiento con las pruebas que lo demuestran.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despliegue está automatizado: el Vagrantfile crea tres máquinas y Ansible configura cada una. dns-vm instala BIND9 con la zona del proyecto; back-vm instala los tres microservicios como servicios systemd y Nginx como API Gateway; front-vm instala Nginx con el front-end. Los tres playbooks terminaron sin fallas. Usamos ansible_local para que funcione igual en Windows y en el Mac M1 de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pruebas reales desde mi computador con Windows. Con una regla de resolución de nombres, Windows le pregunta a dns-vm solo por el dominio del proyecto. Resolve-DnsName devuelve la IP del front y de la API, y el health check del servicio de ventas responde a través del gateway. Desde el navegador se entra por http://panaderia-pos.test con los dos roles. Así se cumplen los tres requisitos de despliegue del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tres microservicios, 21 endpoints, 105 pruebas aprobadas y tres máquinas virtuales con acceso por dominio. El código está en GitHub. A continuación, la demostración en vivo: login como administrador, dashboard, cambio de precio e historial, y una venta como cajero con un cliente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A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txBox="1"/>
          <p:nvPr/>
        </p:nvSpPr>
        <p:spPr>
          <a:xfrm>
            <a:off x="548640" y="1325880"/>
            <a:ext cx="475488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Panadería POS</a:t>
            </a:r>
            <a:endParaRPr lang="en-US" sz="4400" dirty="0"/>
          </a:p>
        </p:txBody>
      </p:sp>
      <p:sp>
        <p:nvSpPr>
          <p:cNvPr id="4" name="Text 1"/>
          <p:cNvSpPr txBox="1"/>
          <p:nvPr/>
        </p:nvSpPr>
        <p:spPr>
          <a:xfrm>
            <a:off x="548640" y="2148840"/>
            <a:ext cx="4389120" cy="731520"/>
          </a:xfrm>
          <a:prstGeom prst="rect">
            <a:avLst/>
          </a:prstGeom>
          <a:noFill/>
          <a:ln/>
        </p:spPr>
        <p:txBody>
          <a:bodyPr wrap="square" lIns="0" tIns="0" rIns="0" bIns="0" rtlCol="0" anchor="ctr"/>
          <a:lstStyle/>
          <a:p>
            <a:pPr indent="0" marL="0">
              <a:buNone/>
            </a:pPr>
            <a:r>
              <a:rPr lang="en-US" sz="1800" dirty="0">
                <a:solidFill>
                  <a:srgbClr val="F5B370"/>
                </a:solidFill>
                <a:latin typeface="Calibri" pitchFamily="34" charset="0"/>
                <a:ea typeface="Calibri" pitchFamily="34" charset="-122"/>
                <a:cs typeface="Calibri" pitchFamily="34" charset="-120"/>
              </a:rPr>
              <a:t>Dashboard de ventas y punto de venta con microservicios REST</a:t>
            </a:r>
            <a:endParaRPr lang="en-US" sz="1800" dirty="0"/>
          </a:p>
        </p:txBody>
      </p:sp>
      <p:sp>
        <p:nvSpPr>
          <p:cNvPr id="5" name="Text 2"/>
          <p:cNvSpPr txBox="1"/>
          <p:nvPr/>
        </p:nvSpPr>
        <p:spPr>
          <a:xfrm>
            <a:off x="548640" y="3291840"/>
            <a:ext cx="4389120" cy="1005840"/>
          </a:xfrm>
          <a:prstGeom prst="rect">
            <a:avLst/>
          </a:prstGeom>
          <a:noFill/>
          <a:ln/>
        </p:spPr>
        <p:txBody>
          <a:bodyPr wrap="square" lIns="0" tIns="0" rIns="0" bIns="0" rtlCol="0" anchor="ctr"/>
          <a:lstStyle/>
          <a:p>
            <a:pPr indent="0" marL="0">
              <a:buNone/>
            </a:pPr>
            <a:r>
              <a:rPr lang="en-US" sz="1300" dirty="0">
                <a:solidFill>
                  <a:srgbClr val="D9C7B0"/>
                </a:solidFill>
                <a:latin typeface="Calibri" pitchFamily="34" charset="0"/>
                <a:ea typeface="Calibri" pitchFamily="34" charset="-122"/>
                <a:cs typeface="Calibri" pitchFamily="34" charset="-120"/>
              </a:rPr>
              <a:t>Redes e Infraestructura · Proyecto de curso – 1ª parte</a:t>
            </a:r>
            <a:endParaRPr lang="en-US" sz="1300" dirty="0"/>
          </a:p>
          <a:p>
            <a:pPr indent="0" marL="0">
              <a:buNone/>
            </a:pPr>
            <a:r>
              <a:rPr lang="en-US" sz="1300" dirty="0">
                <a:solidFill>
                  <a:srgbClr val="D9C7B0"/>
                </a:solidFill>
                <a:latin typeface="Calibri" pitchFamily="34" charset="0"/>
                <a:ea typeface="Calibri" pitchFamily="34" charset="-122"/>
                <a:cs typeface="Calibri" pitchFamily="34" charset="-120"/>
              </a:rPr>
              <a:t>Victoria Herrera · Jhon Sons</a:t>
            </a:r>
            <a:endParaRPr lang="en-US" sz="1300" dirty="0"/>
          </a:p>
          <a:p>
            <a:pPr indent="0" marL="0">
              <a:buNone/>
            </a:pPr>
            <a:r>
              <a:rPr lang="en-US" sz="1300" dirty="0">
                <a:solidFill>
                  <a:srgbClr val="D9C7B0"/>
                </a:solidFill>
                <a:latin typeface="Calibri" pitchFamily="34" charset="0"/>
                <a:ea typeface="Calibri" pitchFamily="34" charset="-122"/>
                <a:cs typeface="Calibri" pitchFamily="34" charset="-120"/>
              </a:rPr>
              <a:t>Octubre 2026</a:t>
            </a:r>
            <a:endParaRPr lang="en-US" sz="1300" dirty="0"/>
          </a:p>
        </p:txBody>
      </p:sp>
      <p:pic>
        <p:nvPicPr>
          <p:cNvPr id="6" name="Image 1" descr="C:\Users\victo\Downloads\Proyecto Redes\proyecto-panaderia-pos\docs\evidencias\02_dashboard.jpg">    </p:cNvPr>
          <p:cNvPicPr>
            <a:picLocks noChangeAspect="1"/>
          </p:cNvPicPr>
          <p:nvPr/>
        </p:nvPicPr>
        <p:blipFill>
          <a:blip r:embed="rId2"/>
          <a:stretch>
            <a:fillRect/>
          </a:stretch>
        </p:blipFill>
        <p:spPr>
          <a:xfrm>
            <a:off x="5120640" y="1799263"/>
            <a:ext cx="3657600" cy="1544975"/>
          </a:xfrm>
          <a:prstGeom prst="rect">
            <a:avLst/>
          </a:prstGeom>
          <a:effectLst>
            <a:outerShdw sx="100000" sy="100000" kx="0" ky="0" algn="bl" rotWithShape="0" blurRad="101600" dist="25400" dir="5400000">
              <a:srgbClr val="000000">
                <a:alpha val="1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Cómo se desarrolló el proyecto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Metodología sencilla en cuatro fases, como pide el enunciado</a:t>
            </a:r>
            <a:endParaRPr lang="en-US" sz="1300" dirty="0"/>
          </a:p>
        </p:txBody>
      </p:sp>
      <p:sp>
        <p:nvSpPr>
          <p:cNvPr id="4" name="Shape 2"/>
          <p:cNvSpPr/>
          <p:nvPr/>
        </p:nvSpPr>
        <p:spPr>
          <a:xfrm>
            <a:off x="457200" y="1417320"/>
            <a:ext cx="1920240" cy="3108960"/>
          </a:xfrm>
          <a:prstGeom prst="roundRect">
            <a:avLst>
              <a:gd name="adj" fmla="val 571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85800" y="1691640"/>
            <a:ext cx="548640" cy="548640"/>
          </a:xfrm>
          <a:prstGeom prst="ellipse">
            <a:avLst/>
          </a:prstGeom>
          <a:solidFill>
            <a:srgbClr val="FDE8CF"/>
          </a:solidFill>
          <a:ln w="12700">
            <a:solidFill>
              <a:srgbClr val="FDE8CF"/>
            </a:solidFill>
            <a:prstDash val="solid"/>
          </a:ln>
        </p:spPr>
      </p:sp>
      <p:pic>
        <p:nvPicPr>
          <p:cNvPr id="6" name="Image 0" descr="preencoded.png">    </p:cNvPr>
          <p:cNvPicPr>
            <a:picLocks noChangeAspect="1"/>
          </p:cNvPicPr>
          <p:nvPr/>
        </p:nvPicPr>
        <p:blipFill>
          <a:blip r:embed="rId1"/>
          <a:stretch>
            <a:fillRect/>
          </a:stretch>
        </p:blipFill>
        <p:spPr>
          <a:xfrm>
            <a:off x="822960" y="1828800"/>
            <a:ext cx="274320" cy="274320"/>
          </a:xfrm>
          <a:prstGeom prst="rect">
            <a:avLst/>
          </a:prstGeom>
        </p:spPr>
      </p:pic>
      <p:sp>
        <p:nvSpPr>
          <p:cNvPr id="7" name="Text 4"/>
          <p:cNvSpPr txBox="1"/>
          <p:nvPr/>
        </p:nvSpPr>
        <p:spPr>
          <a:xfrm>
            <a:off x="1417320" y="1737360"/>
            <a:ext cx="777240" cy="457200"/>
          </a:xfrm>
          <a:prstGeom prst="rect">
            <a:avLst/>
          </a:prstGeom>
          <a:noFill/>
          <a:ln/>
        </p:spPr>
        <p:txBody>
          <a:bodyPr wrap="square" lIns="0" tIns="0" rIns="0" bIns="0" rtlCol="0" anchor="ctr"/>
          <a:lstStyle/>
          <a:p>
            <a:pPr algn="r" indent="0" marL="0">
              <a:buNone/>
            </a:pPr>
            <a:r>
              <a:rPr lang="en-US" sz="2200" b="1" dirty="0">
                <a:solidFill>
                  <a:srgbClr val="A5582C"/>
                </a:solidFill>
                <a:latin typeface="Cambria" pitchFamily="34" charset="0"/>
                <a:ea typeface="Cambria" pitchFamily="34" charset="-122"/>
                <a:cs typeface="Cambria" pitchFamily="34" charset="-120"/>
              </a:rPr>
              <a:t>20%</a:t>
            </a:r>
            <a:endParaRPr lang="en-US" sz="2200" dirty="0"/>
          </a:p>
        </p:txBody>
      </p:sp>
      <p:sp>
        <p:nvSpPr>
          <p:cNvPr id="8" name="Text 5"/>
          <p:cNvSpPr txBox="1"/>
          <p:nvPr/>
        </p:nvSpPr>
        <p:spPr>
          <a:xfrm>
            <a:off x="685800" y="2423160"/>
            <a:ext cx="1554480" cy="274320"/>
          </a:xfrm>
          <a:prstGeom prst="rect">
            <a:avLst/>
          </a:prstGeom>
          <a:noFill/>
          <a:ln/>
        </p:spPr>
        <p:txBody>
          <a:bodyPr wrap="square" lIns="0" tIns="0" rIns="0" bIns="0" rtlCol="0" anchor="ctr"/>
          <a:lstStyle/>
          <a:p>
            <a:pPr indent="0" marL="0">
              <a:buNone/>
            </a:pPr>
            <a:r>
              <a:rPr lang="en-US" sz="1100" b="1" dirty="0">
                <a:solidFill>
                  <a:srgbClr val="8A7563"/>
                </a:solidFill>
                <a:latin typeface="Calibri" pitchFamily="34" charset="0"/>
                <a:ea typeface="Calibri" pitchFamily="34" charset="-122"/>
                <a:cs typeface="Calibri" pitchFamily="34" charset="-120"/>
              </a:rPr>
              <a:t>Fase 1</a:t>
            </a:r>
            <a:endParaRPr lang="en-US" sz="1100" dirty="0"/>
          </a:p>
        </p:txBody>
      </p:sp>
      <p:sp>
        <p:nvSpPr>
          <p:cNvPr id="9" name="Text 6"/>
          <p:cNvSpPr txBox="1"/>
          <p:nvPr/>
        </p:nvSpPr>
        <p:spPr>
          <a:xfrm>
            <a:off x="685800" y="2697480"/>
            <a:ext cx="1554480" cy="685800"/>
          </a:xfrm>
          <a:prstGeom prst="rect">
            <a:avLst/>
          </a:prstGeom>
          <a:noFill/>
          <a:ln/>
        </p:spPr>
        <p:txBody>
          <a:bodyPr wrap="square" lIns="0" tIns="0" rIns="0" bIns="0" rtlCol="0" anchor="t"/>
          <a:lstStyle/>
          <a:p>
            <a:pPr indent="0" marL="0">
              <a:buNone/>
            </a:pPr>
            <a:r>
              <a:rPr lang="en-US" sz="1500" b="1" dirty="0">
                <a:solidFill>
                  <a:srgbClr val="3B2A1E"/>
                </a:solidFill>
                <a:latin typeface="Cambria" pitchFamily="34" charset="0"/>
                <a:ea typeface="Cambria" pitchFamily="34" charset="-122"/>
                <a:cs typeface="Cambria" pitchFamily="34" charset="-120"/>
              </a:rPr>
              <a:t>Definición</a:t>
            </a:r>
            <a:endParaRPr lang="en-US" sz="1500" dirty="0"/>
          </a:p>
        </p:txBody>
      </p:sp>
      <p:sp>
        <p:nvSpPr>
          <p:cNvPr id="10" name="Text 7"/>
          <p:cNvSpPr txBox="1"/>
          <p:nvPr/>
        </p:nvSpPr>
        <p:spPr>
          <a:xfrm>
            <a:off x="685800" y="3429000"/>
            <a:ext cx="1554480" cy="914400"/>
          </a:xfrm>
          <a:prstGeom prst="rect">
            <a:avLst/>
          </a:prstGeom>
          <a:noFill/>
          <a:ln/>
        </p:spPr>
        <p:txBody>
          <a:bodyPr wrap="square" lIns="0" tIns="0" rIns="0" bIns="0" rtlCol="0" anchor="t"/>
          <a:lstStyle/>
          <a:p>
            <a:pPr indent="0" marL="0">
              <a:buNone/>
            </a:pPr>
            <a:r>
              <a:rPr lang="en-US" sz="1200" dirty="0">
                <a:solidFill>
                  <a:srgbClr val="8A7563"/>
                </a:solidFill>
                <a:latin typeface="Calibri" pitchFamily="34" charset="0"/>
                <a:ea typeface="Calibri" pitchFamily="34" charset="-122"/>
                <a:cs typeface="Calibri" pitchFamily="34" charset="-120"/>
              </a:rPr>
              <a:t>Problema, dataset, usuarios y requerimientos</a:t>
            </a:r>
            <a:endParaRPr lang="en-US" sz="1200" dirty="0"/>
          </a:p>
        </p:txBody>
      </p:sp>
      <p:sp>
        <p:nvSpPr>
          <p:cNvPr id="11" name="Shape 8"/>
          <p:cNvSpPr/>
          <p:nvPr/>
        </p:nvSpPr>
        <p:spPr>
          <a:xfrm>
            <a:off x="2560320" y="1417320"/>
            <a:ext cx="1920240" cy="3108960"/>
          </a:xfrm>
          <a:prstGeom prst="roundRect">
            <a:avLst>
              <a:gd name="adj" fmla="val 571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2788920" y="1691640"/>
            <a:ext cx="548640" cy="548640"/>
          </a:xfrm>
          <a:prstGeom prst="ellipse">
            <a:avLst/>
          </a:prstGeom>
          <a:solidFill>
            <a:srgbClr val="FDE8CF"/>
          </a:solidFill>
          <a:ln w="12700">
            <a:solidFill>
              <a:srgbClr val="FDE8CF"/>
            </a:solidFill>
            <a:prstDash val="solid"/>
          </a:ln>
        </p:spPr>
      </p:sp>
      <p:pic>
        <p:nvPicPr>
          <p:cNvPr id="13" name="Image 1" descr="preencoded.png">    </p:cNvPr>
          <p:cNvPicPr>
            <a:picLocks noChangeAspect="1"/>
          </p:cNvPicPr>
          <p:nvPr/>
        </p:nvPicPr>
        <p:blipFill>
          <a:blip r:embed="rId2"/>
          <a:stretch>
            <a:fillRect/>
          </a:stretch>
        </p:blipFill>
        <p:spPr>
          <a:xfrm>
            <a:off x="2926080" y="1828800"/>
            <a:ext cx="274320" cy="274320"/>
          </a:xfrm>
          <a:prstGeom prst="rect">
            <a:avLst/>
          </a:prstGeom>
        </p:spPr>
      </p:pic>
      <p:sp>
        <p:nvSpPr>
          <p:cNvPr id="14" name="Text 10"/>
          <p:cNvSpPr txBox="1"/>
          <p:nvPr/>
        </p:nvSpPr>
        <p:spPr>
          <a:xfrm>
            <a:off x="3520440" y="1737360"/>
            <a:ext cx="777240" cy="457200"/>
          </a:xfrm>
          <a:prstGeom prst="rect">
            <a:avLst/>
          </a:prstGeom>
          <a:noFill/>
          <a:ln/>
        </p:spPr>
        <p:txBody>
          <a:bodyPr wrap="square" lIns="0" tIns="0" rIns="0" bIns="0" rtlCol="0" anchor="ctr"/>
          <a:lstStyle/>
          <a:p>
            <a:pPr algn="r" indent="0" marL="0">
              <a:buNone/>
            </a:pPr>
            <a:r>
              <a:rPr lang="en-US" sz="2200" b="1" dirty="0">
                <a:solidFill>
                  <a:srgbClr val="A5582C"/>
                </a:solidFill>
                <a:latin typeface="Cambria" pitchFamily="34" charset="0"/>
                <a:ea typeface="Cambria" pitchFamily="34" charset="-122"/>
                <a:cs typeface="Cambria" pitchFamily="34" charset="-120"/>
              </a:rPr>
              <a:t>20%</a:t>
            </a:r>
            <a:endParaRPr lang="en-US" sz="2200" dirty="0"/>
          </a:p>
        </p:txBody>
      </p:sp>
      <p:sp>
        <p:nvSpPr>
          <p:cNvPr id="15" name="Text 11"/>
          <p:cNvSpPr txBox="1"/>
          <p:nvPr/>
        </p:nvSpPr>
        <p:spPr>
          <a:xfrm>
            <a:off x="2788920" y="2423160"/>
            <a:ext cx="1554480" cy="274320"/>
          </a:xfrm>
          <a:prstGeom prst="rect">
            <a:avLst/>
          </a:prstGeom>
          <a:noFill/>
          <a:ln/>
        </p:spPr>
        <p:txBody>
          <a:bodyPr wrap="square" lIns="0" tIns="0" rIns="0" bIns="0" rtlCol="0" anchor="ctr"/>
          <a:lstStyle/>
          <a:p>
            <a:pPr indent="0" marL="0">
              <a:buNone/>
            </a:pPr>
            <a:r>
              <a:rPr lang="en-US" sz="1100" b="1" dirty="0">
                <a:solidFill>
                  <a:srgbClr val="8A7563"/>
                </a:solidFill>
                <a:latin typeface="Calibri" pitchFamily="34" charset="0"/>
                <a:ea typeface="Calibri" pitchFamily="34" charset="-122"/>
                <a:cs typeface="Calibri" pitchFamily="34" charset="-120"/>
              </a:rPr>
              <a:t>Fase 2</a:t>
            </a:r>
            <a:endParaRPr lang="en-US" sz="1100" dirty="0"/>
          </a:p>
        </p:txBody>
      </p:sp>
      <p:sp>
        <p:nvSpPr>
          <p:cNvPr id="16" name="Text 12"/>
          <p:cNvSpPr txBox="1"/>
          <p:nvPr/>
        </p:nvSpPr>
        <p:spPr>
          <a:xfrm>
            <a:off x="2788920" y="2697480"/>
            <a:ext cx="1554480" cy="685800"/>
          </a:xfrm>
          <a:prstGeom prst="rect">
            <a:avLst/>
          </a:prstGeom>
          <a:noFill/>
          <a:ln/>
        </p:spPr>
        <p:txBody>
          <a:bodyPr wrap="square" lIns="0" tIns="0" rIns="0" bIns="0" rtlCol="0" anchor="t"/>
          <a:lstStyle/>
          <a:p>
            <a:pPr indent="0" marL="0">
              <a:buNone/>
            </a:pPr>
            <a:r>
              <a:rPr lang="en-US" sz="1500" b="1" dirty="0">
                <a:solidFill>
                  <a:srgbClr val="3B2A1E"/>
                </a:solidFill>
                <a:latin typeface="Cambria" pitchFamily="34" charset="0"/>
                <a:ea typeface="Cambria" pitchFamily="34" charset="-122"/>
                <a:cs typeface="Cambria" pitchFamily="34" charset="-120"/>
              </a:rPr>
              <a:t>Diseño</a:t>
            </a:r>
            <a:endParaRPr lang="en-US" sz="1500" dirty="0"/>
          </a:p>
        </p:txBody>
      </p:sp>
      <p:sp>
        <p:nvSpPr>
          <p:cNvPr id="17" name="Text 13"/>
          <p:cNvSpPr txBox="1"/>
          <p:nvPr/>
        </p:nvSpPr>
        <p:spPr>
          <a:xfrm>
            <a:off x="2788920" y="3429000"/>
            <a:ext cx="1554480" cy="914400"/>
          </a:xfrm>
          <a:prstGeom prst="rect">
            <a:avLst/>
          </a:prstGeom>
          <a:noFill/>
          <a:ln/>
        </p:spPr>
        <p:txBody>
          <a:bodyPr wrap="square" lIns="0" tIns="0" rIns="0" bIns="0" rtlCol="0" anchor="t"/>
          <a:lstStyle/>
          <a:p>
            <a:pPr indent="0" marL="0">
              <a:buNone/>
            </a:pPr>
            <a:r>
              <a:rPr lang="en-US" sz="1200" dirty="0">
                <a:solidFill>
                  <a:srgbClr val="8A7563"/>
                </a:solidFill>
                <a:latin typeface="Calibri" pitchFamily="34" charset="0"/>
                <a:ea typeface="Calibri" pitchFamily="34" charset="-122"/>
                <a:cs typeface="Calibri" pitchFamily="34" charset="-120"/>
              </a:rPr>
              <a:t>Arquitectura de microservicios, datos y componentes</a:t>
            </a:r>
            <a:endParaRPr lang="en-US" sz="1200" dirty="0"/>
          </a:p>
        </p:txBody>
      </p:sp>
      <p:sp>
        <p:nvSpPr>
          <p:cNvPr id="18" name="Shape 14"/>
          <p:cNvSpPr/>
          <p:nvPr/>
        </p:nvSpPr>
        <p:spPr>
          <a:xfrm>
            <a:off x="4663440" y="1417320"/>
            <a:ext cx="1920240" cy="3108960"/>
          </a:xfrm>
          <a:prstGeom prst="roundRect">
            <a:avLst>
              <a:gd name="adj" fmla="val 571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4892040" y="1691640"/>
            <a:ext cx="548640" cy="548640"/>
          </a:xfrm>
          <a:prstGeom prst="ellipse">
            <a:avLst/>
          </a:prstGeom>
          <a:solidFill>
            <a:srgbClr val="FDE8CF"/>
          </a:solidFill>
          <a:ln w="12700">
            <a:solidFill>
              <a:srgbClr val="FDE8CF"/>
            </a:solidFill>
            <a:prstDash val="solid"/>
          </a:ln>
        </p:spPr>
      </p:sp>
      <p:pic>
        <p:nvPicPr>
          <p:cNvPr id="20" name="Image 2" descr="preencoded.png">    </p:cNvPr>
          <p:cNvPicPr>
            <a:picLocks noChangeAspect="1"/>
          </p:cNvPicPr>
          <p:nvPr/>
        </p:nvPicPr>
        <p:blipFill>
          <a:blip r:embed="rId3"/>
          <a:stretch>
            <a:fillRect/>
          </a:stretch>
        </p:blipFill>
        <p:spPr>
          <a:xfrm>
            <a:off x="5029200" y="1828800"/>
            <a:ext cx="274320" cy="274320"/>
          </a:xfrm>
          <a:prstGeom prst="rect">
            <a:avLst/>
          </a:prstGeom>
        </p:spPr>
      </p:pic>
      <p:sp>
        <p:nvSpPr>
          <p:cNvPr id="21" name="Text 16"/>
          <p:cNvSpPr txBox="1"/>
          <p:nvPr/>
        </p:nvSpPr>
        <p:spPr>
          <a:xfrm>
            <a:off x="5623560" y="1737360"/>
            <a:ext cx="777240" cy="457200"/>
          </a:xfrm>
          <a:prstGeom prst="rect">
            <a:avLst/>
          </a:prstGeom>
          <a:noFill/>
          <a:ln/>
        </p:spPr>
        <p:txBody>
          <a:bodyPr wrap="square" lIns="0" tIns="0" rIns="0" bIns="0" rtlCol="0" anchor="ctr"/>
          <a:lstStyle/>
          <a:p>
            <a:pPr algn="r" indent="0" marL="0">
              <a:buNone/>
            </a:pPr>
            <a:r>
              <a:rPr lang="en-US" sz="2200" b="1" dirty="0">
                <a:solidFill>
                  <a:srgbClr val="A5582C"/>
                </a:solidFill>
                <a:latin typeface="Cambria" pitchFamily="34" charset="0"/>
                <a:ea typeface="Cambria" pitchFamily="34" charset="-122"/>
                <a:cs typeface="Cambria" pitchFamily="34" charset="-120"/>
              </a:rPr>
              <a:t>30%</a:t>
            </a:r>
            <a:endParaRPr lang="en-US" sz="2200" dirty="0"/>
          </a:p>
        </p:txBody>
      </p:sp>
      <p:sp>
        <p:nvSpPr>
          <p:cNvPr id="22" name="Text 17"/>
          <p:cNvSpPr txBox="1"/>
          <p:nvPr/>
        </p:nvSpPr>
        <p:spPr>
          <a:xfrm>
            <a:off x="4892040" y="2423160"/>
            <a:ext cx="1554480" cy="274320"/>
          </a:xfrm>
          <a:prstGeom prst="rect">
            <a:avLst/>
          </a:prstGeom>
          <a:noFill/>
          <a:ln/>
        </p:spPr>
        <p:txBody>
          <a:bodyPr wrap="square" lIns="0" tIns="0" rIns="0" bIns="0" rtlCol="0" anchor="ctr"/>
          <a:lstStyle/>
          <a:p>
            <a:pPr indent="0" marL="0">
              <a:buNone/>
            </a:pPr>
            <a:r>
              <a:rPr lang="en-US" sz="1100" b="1" dirty="0">
                <a:solidFill>
                  <a:srgbClr val="8A7563"/>
                </a:solidFill>
                <a:latin typeface="Calibri" pitchFamily="34" charset="0"/>
                <a:ea typeface="Calibri" pitchFamily="34" charset="-122"/>
                <a:cs typeface="Calibri" pitchFamily="34" charset="-120"/>
              </a:rPr>
              <a:t>Fase 3</a:t>
            </a:r>
            <a:endParaRPr lang="en-US" sz="1100" dirty="0"/>
          </a:p>
        </p:txBody>
      </p:sp>
      <p:sp>
        <p:nvSpPr>
          <p:cNvPr id="23" name="Text 18"/>
          <p:cNvSpPr txBox="1"/>
          <p:nvPr/>
        </p:nvSpPr>
        <p:spPr>
          <a:xfrm>
            <a:off x="4892040" y="2697480"/>
            <a:ext cx="1554480" cy="685800"/>
          </a:xfrm>
          <a:prstGeom prst="rect">
            <a:avLst/>
          </a:prstGeom>
          <a:noFill/>
          <a:ln/>
        </p:spPr>
        <p:txBody>
          <a:bodyPr wrap="square" lIns="0" tIns="0" rIns="0" bIns="0" rtlCol="0" anchor="t"/>
          <a:lstStyle/>
          <a:p>
            <a:pPr indent="0" marL="0">
              <a:buNone/>
            </a:pPr>
            <a:r>
              <a:rPr lang="en-US" sz="1500" b="1" dirty="0">
                <a:solidFill>
                  <a:srgbClr val="3B2A1E"/>
                </a:solidFill>
                <a:latin typeface="Cambria" pitchFamily="34" charset="0"/>
                <a:ea typeface="Cambria" pitchFamily="34" charset="-122"/>
                <a:cs typeface="Cambria" pitchFamily="34" charset="-120"/>
              </a:rPr>
              <a:t>Implementación y pruebas</a:t>
            </a:r>
            <a:endParaRPr lang="en-US" sz="1500" dirty="0"/>
          </a:p>
        </p:txBody>
      </p:sp>
      <p:sp>
        <p:nvSpPr>
          <p:cNvPr id="24" name="Text 19"/>
          <p:cNvSpPr txBox="1"/>
          <p:nvPr/>
        </p:nvSpPr>
        <p:spPr>
          <a:xfrm>
            <a:off x="4892040" y="3429000"/>
            <a:ext cx="1554480" cy="914400"/>
          </a:xfrm>
          <a:prstGeom prst="rect">
            <a:avLst/>
          </a:prstGeom>
          <a:noFill/>
          <a:ln/>
        </p:spPr>
        <p:txBody>
          <a:bodyPr wrap="square" lIns="0" tIns="0" rIns="0" bIns="0" rtlCol="0" anchor="t"/>
          <a:lstStyle/>
          <a:p>
            <a:pPr indent="0" marL="0">
              <a:buNone/>
            </a:pPr>
            <a:r>
              <a:rPr lang="en-US" sz="1200" dirty="0">
                <a:solidFill>
                  <a:srgbClr val="8A7563"/>
                </a:solidFill>
                <a:latin typeface="Calibri" pitchFamily="34" charset="0"/>
                <a:ea typeface="Calibri" pitchFamily="34" charset="-122"/>
                <a:cs typeface="Calibri" pitchFamily="34" charset="-120"/>
              </a:rPr>
              <a:t>3 microservicios + front-end, 105 pruebas</a:t>
            </a:r>
            <a:endParaRPr lang="en-US" sz="1200" dirty="0"/>
          </a:p>
        </p:txBody>
      </p:sp>
      <p:sp>
        <p:nvSpPr>
          <p:cNvPr id="25" name="Shape 20"/>
          <p:cNvSpPr/>
          <p:nvPr/>
        </p:nvSpPr>
        <p:spPr>
          <a:xfrm>
            <a:off x="6766560" y="1417320"/>
            <a:ext cx="1920240" cy="3108960"/>
          </a:xfrm>
          <a:prstGeom prst="roundRect">
            <a:avLst>
              <a:gd name="adj" fmla="val 571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6995160" y="1691640"/>
            <a:ext cx="548640" cy="548640"/>
          </a:xfrm>
          <a:prstGeom prst="ellipse">
            <a:avLst/>
          </a:prstGeom>
          <a:solidFill>
            <a:srgbClr val="FDE8CF"/>
          </a:solidFill>
          <a:ln w="12700">
            <a:solidFill>
              <a:srgbClr val="FDE8CF"/>
            </a:solidFill>
            <a:prstDash val="solid"/>
          </a:ln>
        </p:spPr>
      </p:sp>
      <p:pic>
        <p:nvPicPr>
          <p:cNvPr id="27" name="Image 3" descr="preencoded.png">    </p:cNvPr>
          <p:cNvPicPr>
            <a:picLocks noChangeAspect="1"/>
          </p:cNvPicPr>
          <p:nvPr/>
        </p:nvPicPr>
        <p:blipFill>
          <a:blip r:embed="rId4"/>
          <a:stretch>
            <a:fillRect/>
          </a:stretch>
        </p:blipFill>
        <p:spPr>
          <a:xfrm>
            <a:off x="7132320" y="1828800"/>
            <a:ext cx="274320" cy="274320"/>
          </a:xfrm>
          <a:prstGeom prst="rect">
            <a:avLst/>
          </a:prstGeom>
        </p:spPr>
      </p:pic>
      <p:sp>
        <p:nvSpPr>
          <p:cNvPr id="28" name="Text 22"/>
          <p:cNvSpPr txBox="1"/>
          <p:nvPr/>
        </p:nvSpPr>
        <p:spPr>
          <a:xfrm>
            <a:off x="7726680" y="1737360"/>
            <a:ext cx="777240" cy="457200"/>
          </a:xfrm>
          <a:prstGeom prst="rect">
            <a:avLst/>
          </a:prstGeom>
          <a:noFill/>
          <a:ln/>
        </p:spPr>
        <p:txBody>
          <a:bodyPr wrap="square" lIns="0" tIns="0" rIns="0" bIns="0" rtlCol="0" anchor="ctr"/>
          <a:lstStyle/>
          <a:p>
            <a:pPr algn="r" indent="0" marL="0">
              <a:buNone/>
            </a:pPr>
            <a:r>
              <a:rPr lang="en-US" sz="2200" b="1" dirty="0">
                <a:solidFill>
                  <a:srgbClr val="A5582C"/>
                </a:solidFill>
                <a:latin typeface="Cambria" pitchFamily="34" charset="0"/>
                <a:ea typeface="Cambria" pitchFamily="34" charset="-122"/>
                <a:cs typeface="Cambria" pitchFamily="34" charset="-120"/>
              </a:rPr>
              <a:t>30%</a:t>
            </a:r>
            <a:endParaRPr lang="en-US" sz="2200" dirty="0"/>
          </a:p>
        </p:txBody>
      </p:sp>
      <p:sp>
        <p:nvSpPr>
          <p:cNvPr id="29" name="Text 23"/>
          <p:cNvSpPr txBox="1"/>
          <p:nvPr/>
        </p:nvSpPr>
        <p:spPr>
          <a:xfrm>
            <a:off x="6995160" y="2423160"/>
            <a:ext cx="1554480" cy="274320"/>
          </a:xfrm>
          <a:prstGeom prst="rect">
            <a:avLst/>
          </a:prstGeom>
          <a:noFill/>
          <a:ln/>
        </p:spPr>
        <p:txBody>
          <a:bodyPr wrap="square" lIns="0" tIns="0" rIns="0" bIns="0" rtlCol="0" anchor="ctr"/>
          <a:lstStyle/>
          <a:p>
            <a:pPr indent="0" marL="0">
              <a:buNone/>
            </a:pPr>
            <a:r>
              <a:rPr lang="en-US" sz="1100" b="1" dirty="0">
                <a:solidFill>
                  <a:srgbClr val="8A7563"/>
                </a:solidFill>
                <a:latin typeface="Calibri" pitchFamily="34" charset="0"/>
                <a:ea typeface="Calibri" pitchFamily="34" charset="-122"/>
                <a:cs typeface="Calibri" pitchFamily="34" charset="-120"/>
              </a:rPr>
              <a:t>Fase 4</a:t>
            </a:r>
            <a:endParaRPr lang="en-US" sz="1100" dirty="0"/>
          </a:p>
        </p:txBody>
      </p:sp>
      <p:sp>
        <p:nvSpPr>
          <p:cNvPr id="30" name="Text 24"/>
          <p:cNvSpPr txBox="1"/>
          <p:nvPr/>
        </p:nvSpPr>
        <p:spPr>
          <a:xfrm>
            <a:off x="6995160" y="2697480"/>
            <a:ext cx="1554480" cy="685800"/>
          </a:xfrm>
          <a:prstGeom prst="rect">
            <a:avLst/>
          </a:prstGeom>
          <a:noFill/>
          <a:ln/>
        </p:spPr>
        <p:txBody>
          <a:bodyPr wrap="square" lIns="0" tIns="0" rIns="0" bIns="0" rtlCol="0" anchor="t"/>
          <a:lstStyle/>
          <a:p>
            <a:pPr indent="0" marL="0">
              <a:buNone/>
            </a:pPr>
            <a:r>
              <a:rPr lang="en-US" sz="1500" b="1" dirty="0">
                <a:solidFill>
                  <a:srgbClr val="3B2A1E"/>
                </a:solidFill>
                <a:latin typeface="Cambria" pitchFamily="34" charset="0"/>
                <a:ea typeface="Cambria" pitchFamily="34" charset="-122"/>
                <a:cs typeface="Cambria" pitchFamily="34" charset="-120"/>
              </a:rPr>
              <a:t>Despliegue</a:t>
            </a:r>
            <a:endParaRPr lang="en-US" sz="1500" dirty="0"/>
          </a:p>
        </p:txBody>
      </p:sp>
      <p:sp>
        <p:nvSpPr>
          <p:cNvPr id="31" name="Text 25"/>
          <p:cNvSpPr txBox="1"/>
          <p:nvPr/>
        </p:nvSpPr>
        <p:spPr>
          <a:xfrm>
            <a:off x="6995160" y="3429000"/>
            <a:ext cx="1554480" cy="914400"/>
          </a:xfrm>
          <a:prstGeom prst="rect">
            <a:avLst/>
          </a:prstGeom>
          <a:noFill/>
          <a:ln/>
        </p:spPr>
        <p:txBody>
          <a:bodyPr wrap="square" lIns="0" tIns="0" rIns="0" bIns="0" rtlCol="0" anchor="t"/>
          <a:lstStyle/>
          <a:p>
            <a:pPr indent="0" marL="0">
              <a:buNone/>
            </a:pPr>
            <a:r>
              <a:rPr lang="en-US" sz="1200" dirty="0">
                <a:solidFill>
                  <a:srgbClr val="8A7563"/>
                </a:solidFill>
                <a:latin typeface="Calibri" pitchFamily="34" charset="0"/>
                <a:ea typeface="Calibri" pitchFamily="34" charset="-122"/>
                <a:cs typeface="Calibri" pitchFamily="34" charset="-120"/>
              </a:rPr>
              <a:t>2 servidores + DNS, acceso por dominio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B2A1E"/>
        </a:solidFill>
      </p:bgPr>
    </p:bg>
    <p:spTree>
      <p:nvGrpSpPr>
        <p:cNvPr id="1" name=""/>
        <p:cNvGrpSpPr/>
        <p:nvPr/>
      </p:nvGrpSpPr>
      <p:grpSpPr>
        <a:xfrm>
          <a:off x="0" y="0"/>
          <a:ext cx="0" cy="0"/>
          <a:chOff x="0" y="0"/>
          <a:chExt cx="0" cy="0"/>
        </a:xfrm>
      </p:grpSpPr>
      <p:sp>
        <p:nvSpPr>
          <p:cNvPr id="2" name="Text 0"/>
          <p:cNvSpPr txBox="1"/>
          <p:nvPr/>
        </p:nvSpPr>
        <p:spPr>
          <a:xfrm>
            <a:off x="731520" y="1463040"/>
            <a:ext cx="7315200" cy="457200"/>
          </a:xfrm>
          <a:prstGeom prst="rect">
            <a:avLst/>
          </a:prstGeom>
          <a:noFill/>
          <a:ln/>
        </p:spPr>
        <p:txBody>
          <a:bodyPr wrap="square" lIns="0" tIns="0" rIns="0" bIns="0" rtlCol="0" anchor="ctr"/>
          <a:lstStyle/>
          <a:p>
            <a:pPr indent="0" marL="0">
              <a:buNone/>
            </a:pPr>
            <a:r>
              <a:rPr lang="en-US" sz="1600" b="1" spc="400" kern="0" dirty="0">
                <a:solidFill>
                  <a:srgbClr val="F5B370"/>
                </a:solidFill>
                <a:latin typeface="Calibri" pitchFamily="34" charset="0"/>
                <a:ea typeface="Calibri" pitchFamily="34" charset="-122"/>
                <a:cs typeface="Calibri" pitchFamily="34" charset="-120"/>
              </a:rPr>
              <a:t>FASE 1</a:t>
            </a:r>
            <a:endParaRPr lang="en-US" sz="1600" dirty="0"/>
          </a:p>
        </p:txBody>
      </p:sp>
      <p:sp>
        <p:nvSpPr>
          <p:cNvPr id="3" name="Text 1"/>
          <p:cNvSpPr txBox="1"/>
          <p:nvPr/>
        </p:nvSpPr>
        <p:spPr>
          <a:xfrm>
            <a:off x="731520" y="192024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Definición</a:t>
            </a:r>
            <a:endParaRPr lang="en-US" sz="44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indent="0" marL="0">
              <a:buNone/>
            </a:pPr>
            <a:r>
              <a:rPr lang="en-US" sz="1600" dirty="0">
                <a:solidFill>
                  <a:srgbClr val="D9C7B0"/>
                </a:solidFill>
                <a:latin typeface="Calibri" pitchFamily="34" charset="0"/>
                <a:ea typeface="Calibri" pitchFamily="34" charset="-122"/>
                <a:cs typeface="Calibri" pitchFamily="34" charset="-120"/>
              </a:rPr>
              <a:t>Problema, dataset, usuarios y requerimientos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1</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El problema</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Una panadería de barrio registra sus ventas, pero no las aprovecha</a:t>
            </a:r>
            <a:endParaRPr lang="en-US" sz="1300" dirty="0"/>
          </a:p>
        </p:txBody>
      </p:sp>
      <p:sp>
        <p:nvSpPr>
          <p:cNvPr id="6" name="Shape 4"/>
          <p:cNvSpPr/>
          <p:nvPr/>
        </p:nvSpPr>
        <p:spPr>
          <a:xfrm>
            <a:off x="457200" y="1371600"/>
            <a:ext cx="3749040" cy="3291840"/>
          </a:xfrm>
          <a:prstGeom prst="roundRect">
            <a:avLst>
              <a:gd name="adj" fmla="val 3333"/>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31520" y="1600200"/>
            <a:ext cx="3200400" cy="2194560"/>
          </a:xfrm>
          <a:prstGeom prst="rect">
            <a:avLst/>
          </a:prstGeom>
          <a:noFill/>
          <a:ln/>
        </p:spPr>
        <p:txBody>
          <a:bodyPr wrap="square" lIns="0" tIns="0" rIns="0" bIns="0" rtlCol="0" anchor="t"/>
          <a:lstStyle/>
          <a:p>
            <a:pPr indent="0" marL="0">
              <a:buNone/>
            </a:pPr>
            <a:r>
              <a:rPr lang="en-US" sz="1600" i="1" dirty="0">
                <a:solidFill>
                  <a:srgbClr val="3B2A1E"/>
                </a:solidFill>
                <a:latin typeface="Cambria" pitchFamily="34" charset="0"/>
                <a:ea typeface="Cambria" pitchFamily="34" charset="-122"/>
                <a:cs typeface="Cambria" pitchFamily="34" charset="-120"/>
              </a:rPr>
              <a:t>“El dueño no sabe qué productos le dejan más dinero, qué días vende más, quiénes son sus clientes frecuentes ni qué productos no se venden. El cajero registra ventas sin ninguna validación.”</a:t>
            </a:r>
            <a:endParaRPr lang="en-US" sz="1600" dirty="0"/>
          </a:p>
        </p:txBody>
      </p:sp>
      <p:sp>
        <p:nvSpPr>
          <p:cNvPr id="8" name="Text 6"/>
          <p:cNvSpPr txBox="1"/>
          <p:nvPr/>
        </p:nvSpPr>
        <p:spPr>
          <a:xfrm>
            <a:off x="731520" y="3931920"/>
            <a:ext cx="3200400" cy="548640"/>
          </a:xfrm>
          <a:prstGeom prst="rect">
            <a:avLst/>
          </a:prstGeom>
          <a:noFill/>
          <a:ln/>
        </p:spPr>
        <p:txBody>
          <a:bodyPr wrap="square" lIns="0" tIns="0" rIns="0" bIns="0" rtlCol="0" anchor="ctr"/>
          <a:lstStyle/>
          <a:p>
            <a:pPr indent="0" marL="0">
              <a:buNone/>
            </a:pPr>
            <a:r>
              <a:rPr lang="en-US" sz="1200" b="1" dirty="0">
                <a:solidFill>
                  <a:srgbClr val="A5582C"/>
                </a:solidFill>
                <a:latin typeface="Calibri" pitchFamily="34" charset="0"/>
                <a:ea typeface="Calibri" pitchFamily="34" charset="-122"/>
                <a:cs typeface="Calibri" pitchFamily="34" charset="-120"/>
              </a:rPr>
              <a:t>11 necesidades identificadas → 16 requerimientos funcionales</a:t>
            </a:r>
            <a:endParaRPr lang="en-US" sz="1200" dirty="0"/>
          </a:p>
        </p:txBody>
      </p:sp>
      <p:sp>
        <p:nvSpPr>
          <p:cNvPr id="9" name="Shape 7"/>
          <p:cNvSpPr/>
          <p:nvPr/>
        </p:nvSpPr>
        <p:spPr>
          <a:xfrm>
            <a:off x="4526280" y="1371600"/>
            <a:ext cx="457200" cy="457200"/>
          </a:xfrm>
          <a:prstGeom prst="ellipse">
            <a:avLst/>
          </a:prstGeom>
          <a:solidFill>
            <a:srgbClr val="FDE8CF"/>
          </a:solidFill>
          <a:ln w="12700">
            <a:solidFill>
              <a:srgbClr val="FDE8CF"/>
            </a:solidFill>
            <a:prstDash val="solid"/>
          </a:ln>
        </p:spPr>
      </p:sp>
      <p:pic>
        <p:nvPicPr>
          <p:cNvPr id="10" name="Image 0" descr="preencoded.png">    </p:cNvPr>
          <p:cNvPicPr>
            <a:picLocks noChangeAspect="1"/>
          </p:cNvPicPr>
          <p:nvPr/>
        </p:nvPicPr>
        <p:blipFill>
          <a:blip r:embed="rId1"/>
          <a:stretch>
            <a:fillRect/>
          </a:stretch>
        </p:blipFill>
        <p:spPr>
          <a:xfrm>
            <a:off x="4640580" y="1485900"/>
            <a:ext cx="228600" cy="228600"/>
          </a:xfrm>
          <a:prstGeom prst="rect">
            <a:avLst/>
          </a:prstGeom>
        </p:spPr>
      </p:pic>
      <p:sp>
        <p:nvSpPr>
          <p:cNvPr id="11" name="Text 8"/>
          <p:cNvSpPr txBox="1"/>
          <p:nvPr/>
        </p:nvSpPr>
        <p:spPr>
          <a:xfrm>
            <a:off x="5120640" y="1353312"/>
            <a:ext cx="356616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Ver de un vistazo cuánto vendió</a:t>
            </a:r>
            <a:endParaRPr lang="en-US" sz="1400" dirty="0"/>
          </a:p>
        </p:txBody>
      </p:sp>
      <p:sp>
        <p:nvSpPr>
          <p:cNvPr id="12" name="Text 9"/>
          <p:cNvSpPr txBox="1"/>
          <p:nvPr/>
        </p:nvSpPr>
        <p:spPr>
          <a:xfrm>
            <a:off x="5120640" y="1618488"/>
            <a:ext cx="3566160" cy="256032"/>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Ingresos, ventas, unidades, ticket promedio</a:t>
            </a:r>
            <a:endParaRPr lang="en-US" sz="1200" dirty="0"/>
          </a:p>
        </p:txBody>
      </p:sp>
      <p:sp>
        <p:nvSpPr>
          <p:cNvPr id="13" name="Shape 10"/>
          <p:cNvSpPr/>
          <p:nvPr/>
        </p:nvSpPr>
        <p:spPr>
          <a:xfrm>
            <a:off x="4526280" y="2039112"/>
            <a:ext cx="457200" cy="457200"/>
          </a:xfrm>
          <a:prstGeom prst="ellipse">
            <a:avLst/>
          </a:prstGeom>
          <a:solidFill>
            <a:srgbClr val="FDE8CF"/>
          </a:solidFill>
          <a:ln w="12700">
            <a:solidFill>
              <a:srgbClr val="FDE8CF"/>
            </a:solidFill>
            <a:prstDash val="solid"/>
          </a:ln>
        </p:spPr>
      </p:sp>
      <p:pic>
        <p:nvPicPr>
          <p:cNvPr id="14" name="Image 1" descr="preencoded.png">    </p:cNvPr>
          <p:cNvPicPr>
            <a:picLocks noChangeAspect="1"/>
          </p:cNvPicPr>
          <p:nvPr/>
        </p:nvPicPr>
        <p:blipFill>
          <a:blip r:embed="rId2"/>
          <a:stretch>
            <a:fillRect/>
          </a:stretch>
        </p:blipFill>
        <p:spPr>
          <a:xfrm>
            <a:off x="4640580" y="2153412"/>
            <a:ext cx="228600" cy="228600"/>
          </a:xfrm>
          <a:prstGeom prst="rect">
            <a:avLst/>
          </a:prstGeom>
        </p:spPr>
      </p:pic>
      <p:sp>
        <p:nvSpPr>
          <p:cNvPr id="15" name="Text 11"/>
          <p:cNvSpPr txBox="1"/>
          <p:nvPr/>
        </p:nvSpPr>
        <p:spPr>
          <a:xfrm>
            <a:off x="5120640" y="2020824"/>
            <a:ext cx="356616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Saber qué hornear</a:t>
            </a:r>
            <a:endParaRPr lang="en-US" sz="1400" dirty="0"/>
          </a:p>
        </p:txBody>
      </p:sp>
      <p:sp>
        <p:nvSpPr>
          <p:cNvPr id="16" name="Text 12"/>
          <p:cNvSpPr txBox="1"/>
          <p:nvPr/>
        </p:nvSpPr>
        <p:spPr>
          <a:xfrm>
            <a:off x="5120640" y="2286000"/>
            <a:ext cx="3566160" cy="256032"/>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Productos más vendidos y productos sin ventas</a:t>
            </a:r>
            <a:endParaRPr lang="en-US" sz="1200" dirty="0"/>
          </a:p>
        </p:txBody>
      </p:sp>
      <p:sp>
        <p:nvSpPr>
          <p:cNvPr id="17" name="Shape 13"/>
          <p:cNvSpPr/>
          <p:nvPr/>
        </p:nvSpPr>
        <p:spPr>
          <a:xfrm>
            <a:off x="4526280" y="2706624"/>
            <a:ext cx="457200" cy="457200"/>
          </a:xfrm>
          <a:prstGeom prst="ellipse">
            <a:avLst/>
          </a:prstGeom>
          <a:solidFill>
            <a:srgbClr val="FDE8CF"/>
          </a:solidFill>
          <a:ln w="12700">
            <a:solidFill>
              <a:srgbClr val="FDE8CF"/>
            </a:solidFill>
            <a:prstDash val="solid"/>
          </a:ln>
        </p:spPr>
      </p:sp>
      <p:pic>
        <p:nvPicPr>
          <p:cNvPr id="18" name="Image 2" descr="preencoded.png">    </p:cNvPr>
          <p:cNvPicPr>
            <a:picLocks noChangeAspect="1"/>
          </p:cNvPicPr>
          <p:nvPr/>
        </p:nvPicPr>
        <p:blipFill>
          <a:blip r:embed="rId3"/>
          <a:stretch>
            <a:fillRect/>
          </a:stretch>
        </p:blipFill>
        <p:spPr>
          <a:xfrm>
            <a:off x="4640580" y="2820924"/>
            <a:ext cx="228600" cy="228600"/>
          </a:xfrm>
          <a:prstGeom prst="rect">
            <a:avLst/>
          </a:prstGeom>
        </p:spPr>
      </p:pic>
      <p:sp>
        <p:nvSpPr>
          <p:cNvPr id="19" name="Text 14"/>
          <p:cNvSpPr txBox="1"/>
          <p:nvPr/>
        </p:nvSpPr>
        <p:spPr>
          <a:xfrm>
            <a:off x="5120640" y="2688336"/>
            <a:ext cx="356616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Conocer a sus clientes</a:t>
            </a:r>
            <a:endParaRPr lang="en-US" sz="1400" dirty="0"/>
          </a:p>
        </p:txBody>
      </p:sp>
      <p:sp>
        <p:nvSpPr>
          <p:cNvPr id="20" name="Text 15"/>
          <p:cNvSpPr txBox="1"/>
          <p:nvPr/>
        </p:nvSpPr>
        <p:spPr>
          <a:xfrm>
            <a:off x="5120640" y="2953512"/>
            <a:ext cx="3566160" cy="256032"/>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Ranking de clientes por compras y gasto</a:t>
            </a:r>
            <a:endParaRPr lang="en-US" sz="1200" dirty="0"/>
          </a:p>
        </p:txBody>
      </p:sp>
      <p:sp>
        <p:nvSpPr>
          <p:cNvPr id="21" name="Shape 16"/>
          <p:cNvSpPr/>
          <p:nvPr/>
        </p:nvSpPr>
        <p:spPr>
          <a:xfrm>
            <a:off x="4526280" y="3374136"/>
            <a:ext cx="457200" cy="457200"/>
          </a:xfrm>
          <a:prstGeom prst="ellipse">
            <a:avLst/>
          </a:prstGeom>
          <a:solidFill>
            <a:srgbClr val="FDE8CF"/>
          </a:solidFill>
          <a:ln w="12700">
            <a:solidFill>
              <a:srgbClr val="FDE8CF"/>
            </a:solidFill>
            <a:prstDash val="solid"/>
          </a:ln>
        </p:spPr>
      </p:sp>
      <p:pic>
        <p:nvPicPr>
          <p:cNvPr id="22" name="Image 3" descr="preencoded.png">    </p:cNvPr>
          <p:cNvPicPr>
            <a:picLocks noChangeAspect="1"/>
          </p:cNvPicPr>
          <p:nvPr/>
        </p:nvPicPr>
        <p:blipFill>
          <a:blip r:embed="rId4"/>
          <a:stretch>
            <a:fillRect/>
          </a:stretch>
        </p:blipFill>
        <p:spPr>
          <a:xfrm>
            <a:off x="4640580" y="3488436"/>
            <a:ext cx="228600" cy="228600"/>
          </a:xfrm>
          <a:prstGeom prst="rect">
            <a:avLst/>
          </a:prstGeom>
        </p:spPr>
      </p:pic>
      <p:sp>
        <p:nvSpPr>
          <p:cNvPr id="23" name="Text 17"/>
          <p:cNvSpPr txBox="1"/>
          <p:nvPr/>
        </p:nvSpPr>
        <p:spPr>
          <a:xfrm>
            <a:off x="5120640" y="3355848"/>
            <a:ext cx="356616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Controlar el catálogo</a:t>
            </a:r>
            <a:endParaRPr lang="en-US" sz="1400" dirty="0"/>
          </a:p>
        </p:txBody>
      </p:sp>
      <p:sp>
        <p:nvSpPr>
          <p:cNvPr id="24" name="Text 18"/>
          <p:cNvSpPr txBox="1"/>
          <p:nvPr/>
        </p:nvSpPr>
        <p:spPr>
          <a:xfrm>
            <a:off x="5120640" y="3621024"/>
            <a:ext cx="3566160" cy="256032"/>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Precios, tipo de venta e historial de cambios</a:t>
            </a:r>
            <a:endParaRPr lang="en-US" sz="1200" dirty="0"/>
          </a:p>
        </p:txBody>
      </p:sp>
      <p:sp>
        <p:nvSpPr>
          <p:cNvPr id="25" name="Shape 19"/>
          <p:cNvSpPr/>
          <p:nvPr/>
        </p:nvSpPr>
        <p:spPr>
          <a:xfrm>
            <a:off x="4526280" y="4041648"/>
            <a:ext cx="457200" cy="457200"/>
          </a:xfrm>
          <a:prstGeom prst="ellipse">
            <a:avLst/>
          </a:prstGeom>
          <a:solidFill>
            <a:srgbClr val="FDE8CF"/>
          </a:solidFill>
          <a:ln w="12700">
            <a:solidFill>
              <a:srgbClr val="FDE8CF"/>
            </a:solidFill>
            <a:prstDash val="solid"/>
          </a:ln>
        </p:spPr>
      </p:sp>
      <p:pic>
        <p:nvPicPr>
          <p:cNvPr id="26" name="Image 4" descr="preencoded.png">    </p:cNvPr>
          <p:cNvPicPr>
            <a:picLocks noChangeAspect="1"/>
          </p:cNvPicPr>
          <p:nvPr/>
        </p:nvPicPr>
        <p:blipFill>
          <a:blip r:embed="rId5"/>
          <a:stretch>
            <a:fillRect/>
          </a:stretch>
        </p:blipFill>
        <p:spPr>
          <a:xfrm>
            <a:off x="4640580" y="4155948"/>
            <a:ext cx="228600" cy="228600"/>
          </a:xfrm>
          <a:prstGeom prst="rect">
            <a:avLst/>
          </a:prstGeom>
        </p:spPr>
      </p:pic>
      <p:sp>
        <p:nvSpPr>
          <p:cNvPr id="27" name="Text 20"/>
          <p:cNvSpPr txBox="1"/>
          <p:nvPr/>
        </p:nvSpPr>
        <p:spPr>
          <a:xfrm>
            <a:off x="5120640" y="4023360"/>
            <a:ext cx="356616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Vender rápido y sin errores</a:t>
            </a:r>
            <a:endParaRPr lang="en-US" sz="1400" dirty="0"/>
          </a:p>
        </p:txBody>
      </p:sp>
      <p:sp>
        <p:nvSpPr>
          <p:cNvPr id="28" name="Text 21"/>
          <p:cNvSpPr txBox="1"/>
          <p:nvPr/>
        </p:nvSpPr>
        <p:spPr>
          <a:xfrm>
            <a:off x="5120640" y="4288536"/>
            <a:ext cx="3566160" cy="256032"/>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Carrito, clientes y validación de reglas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1</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El dataset</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Kaggle · “Venta de productos de panadería” (cuantico)</a:t>
            </a:r>
            <a:endParaRPr lang="en-US" sz="1300" dirty="0"/>
          </a:p>
        </p:txBody>
      </p:sp>
      <p:sp>
        <p:nvSpPr>
          <p:cNvPr id="6" name="Shape 4"/>
          <p:cNvSpPr/>
          <p:nvPr/>
        </p:nvSpPr>
        <p:spPr>
          <a:xfrm>
            <a:off x="457200" y="1371600"/>
            <a:ext cx="1920240" cy="1737360"/>
          </a:xfrm>
          <a:prstGeom prst="roundRect">
            <a:avLst>
              <a:gd name="adj" fmla="val 6316"/>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40080" y="1508760"/>
            <a:ext cx="1554480" cy="685800"/>
          </a:xfrm>
          <a:prstGeom prst="rect">
            <a:avLst/>
          </a:prstGeom>
          <a:noFill/>
          <a:ln/>
        </p:spPr>
        <p:txBody>
          <a:bodyPr wrap="square" lIns="0" tIns="0" rIns="0" bIns="0" rtlCol="0" anchor="ctr"/>
          <a:lstStyle/>
          <a:p>
            <a:pPr indent="0" marL="0">
              <a:buNone/>
            </a:pPr>
            <a:r>
              <a:rPr lang="en-US" sz="3400" b="1" dirty="0">
                <a:solidFill>
                  <a:srgbClr val="A5582C"/>
                </a:solidFill>
                <a:latin typeface="Cambria" pitchFamily="34" charset="0"/>
                <a:ea typeface="Cambria" pitchFamily="34" charset="-122"/>
                <a:cs typeface="Cambria" pitchFamily="34" charset="-120"/>
              </a:rPr>
              <a:t>42</a:t>
            </a:r>
            <a:endParaRPr lang="en-US" sz="3400" dirty="0"/>
          </a:p>
        </p:txBody>
      </p:sp>
      <p:sp>
        <p:nvSpPr>
          <p:cNvPr id="8" name="Text 6"/>
          <p:cNvSpPr txBox="1"/>
          <p:nvPr/>
        </p:nvSpPr>
        <p:spPr>
          <a:xfrm>
            <a:off x="640080" y="2194560"/>
            <a:ext cx="155448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productos</a:t>
            </a:r>
            <a:endParaRPr lang="en-US" sz="1400" dirty="0"/>
          </a:p>
        </p:txBody>
      </p:sp>
      <p:sp>
        <p:nvSpPr>
          <p:cNvPr id="9" name="Text 7"/>
          <p:cNvSpPr txBox="1"/>
          <p:nvPr/>
        </p:nvSpPr>
        <p:spPr>
          <a:xfrm>
            <a:off x="640080" y="2468880"/>
            <a:ext cx="1554480" cy="54864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con precio por unidad o por kg</a:t>
            </a:r>
            <a:endParaRPr lang="en-US" sz="1100" dirty="0"/>
          </a:p>
        </p:txBody>
      </p:sp>
      <p:sp>
        <p:nvSpPr>
          <p:cNvPr id="10" name="Shape 8"/>
          <p:cNvSpPr/>
          <p:nvPr/>
        </p:nvSpPr>
        <p:spPr>
          <a:xfrm>
            <a:off x="2560320" y="1371600"/>
            <a:ext cx="1920240" cy="1737360"/>
          </a:xfrm>
          <a:prstGeom prst="roundRect">
            <a:avLst>
              <a:gd name="adj" fmla="val 6316"/>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2743200" y="1508760"/>
            <a:ext cx="1554480" cy="685800"/>
          </a:xfrm>
          <a:prstGeom prst="rect">
            <a:avLst/>
          </a:prstGeom>
          <a:noFill/>
          <a:ln/>
        </p:spPr>
        <p:txBody>
          <a:bodyPr wrap="square" lIns="0" tIns="0" rIns="0" bIns="0" rtlCol="0" anchor="ctr"/>
          <a:lstStyle/>
          <a:p>
            <a:pPr indent="0" marL="0">
              <a:buNone/>
            </a:pPr>
            <a:r>
              <a:rPr lang="en-US" sz="3400" b="1" dirty="0">
                <a:solidFill>
                  <a:srgbClr val="A5582C"/>
                </a:solidFill>
                <a:latin typeface="Cambria" pitchFamily="34" charset="0"/>
                <a:ea typeface="Cambria" pitchFamily="34" charset="-122"/>
                <a:cs typeface="Cambria" pitchFamily="34" charset="-120"/>
              </a:rPr>
              <a:t>210</a:t>
            </a:r>
            <a:endParaRPr lang="en-US" sz="3400" dirty="0"/>
          </a:p>
        </p:txBody>
      </p:sp>
      <p:sp>
        <p:nvSpPr>
          <p:cNvPr id="12" name="Text 10"/>
          <p:cNvSpPr txBox="1"/>
          <p:nvPr/>
        </p:nvSpPr>
        <p:spPr>
          <a:xfrm>
            <a:off x="2743200" y="2194560"/>
            <a:ext cx="155448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clientes</a:t>
            </a:r>
            <a:endParaRPr lang="en-US" sz="1400" dirty="0"/>
          </a:p>
        </p:txBody>
      </p:sp>
      <p:sp>
        <p:nvSpPr>
          <p:cNvPr id="13" name="Text 11"/>
          <p:cNvSpPr txBox="1"/>
          <p:nvPr/>
        </p:nvSpPr>
        <p:spPr>
          <a:xfrm>
            <a:off x="2743200" y="2468880"/>
            <a:ext cx="1554480" cy="54864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solo identificados por número</a:t>
            </a:r>
            <a:endParaRPr lang="en-US" sz="1100" dirty="0"/>
          </a:p>
        </p:txBody>
      </p:sp>
      <p:sp>
        <p:nvSpPr>
          <p:cNvPr id="14" name="Shape 12"/>
          <p:cNvSpPr/>
          <p:nvPr/>
        </p:nvSpPr>
        <p:spPr>
          <a:xfrm>
            <a:off x="4663440" y="1371600"/>
            <a:ext cx="1920240" cy="1737360"/>
          </a:xfrm>
          <a:prstGeom prst="roundRect">
            <a:avLst>
              <a:gd name="adj" fmla="val 6316"/>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4846320" y="1508760"/>
            <a:ext cx="1554480" cy="685800"/>
          </a:xfrm>
          <a:prstGeom prst="rect">
            <a:avLst/>
          </a:prstGeom>
          <a:noFill/>
          <a:ln/>
        </p:spPr>
        <p:txBody>
          <a:bodyPr wrap="square" lIns="0" tIns="0" rIns="0" bIns="0" rtlCol="0" anchor="ctr"/>
          <a:lstStyle/>
          <a:p>
            <a:pPr indent="0" marL="0">
              <a:buNone/>
            </a:pPr>
            <a:r>
              <a:rPr lang="en-US" sz="3400" b="1" dirty="0">
                <a:solidFill>
                  <a:srgbClr val="A5582C"/>
                </a:solidFill>
                <a:latin typeface="Cambria" pitchFamily="34" charset="0"/>
                <a:ea typeface="Cambria" pitchFamily="34" charset="-122"/>
                <a:cs typeface="Cambria" pitchFamily="34" charset="-120"/>
              </a:rPr>
              <a:t>1.203</a:t>
            </a:r>
            <a:endParaRPr lang="en-US" sz="3400" dirty="0"/>
          </a:p>
        </p:txBody>
      </p:sp>
      <p:sp>
        <p:nvSpPr>
          <p:cNvPr id="16" name="Text 14"/>
          <p:cNvSpPr txBox="1"/>
          <p:nvPr/>
        </p:nvSpPr>
        <p:spPr>
          <a:xfrm>
            <a:off x="4846320" y="2194560"/>
            <a:ext cx="155448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ventas</a:t>
            </a:r>
            <a:endParaRPr lang="en-US" sz="1400" dirty="0"/>
          </a:p>
        </p:txBody>
      </p:sp>
      <p:sp>
        <p:nvSpPr>
          <p:cNvPr id="17" name="Text 15"/>
          <p:cNvSpPr txBox="1"/>
          <p:nvPr/>
        </p:nvSpPr>
        <p:spPr>
          <a:xfrm>
            <a:off x="4846320" y="2468880"/>
            <a:ext cx="1554480" cy="54864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del lunes 2 al sábado 7 de marzo de 2020</a:t>
            </a:r>
            <a:endParaRPr lang="en-US" sz="1100" dirty="0"/>
          </a:p>
        </p:txBody>
      </p:sp>
      <p:sp>
        <p:nvSpPr>
          <p:cNvPr id="18" name="Shape 16"/>
          <p:cNvSpPr/>
          <p:nvPr/>
        </p:nvSpPr>
        <p:spPr>
          <a:xfrm>
            <a:off x="6766560" y="1371600"/>
            <a:ext cx="1920240" cy="1737360"/>
          </a:xfrm>
          <a:prstGeom prst="roundRect">
            <a:avLst>
              <a:gd name="adj" fmla="val 6316"/>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6949440" y="1508760"/>
            <a:ext cx="1554480" cy="685800"/>
          </a:xfrm>
          <a:prstGeom prst="rect">
            <a:avLst/>
          </a:prstGeom>
          <a:noFill/>
          <a:ln/>
        </p:spPr>
        <p:txBody>
          <a:bodyPr wrap="square" lIns="0" tIns="0" rIns="0" bIns="0" rtlCol="0" anchor="ctr"/>
          <a:lstStyle/>
          <a:p>
            <a:pPr indent="0" marL="0">
              <a:buNone/>
            </a:pPr>
            <a:r>
              <a:rPr lang="en-US" sz="3400" b="1" dirty="0">
                <a:solidFill>
                  <a:srgbClr val="A5582C"/>
                </a:solidFill>
                <a:latin typeface="Cambria" pitchFamily="34" charset="0"/>
                <a:ea typeface="Cambria" pitchFamily="34" charset="-122"/>
                <a:cs typeface="Cambria" pitchFamily="34" charset="-120"/>
              </a:rPr>
              <a:t>€ 1.229</a:t>
            </a:r>
            <a:endParaRPr lang="en-US" sz="3400" dirty="0"/>
          </a:p>
        </p:txBody>
      </p:sp>
      <p:sp>
        <p:nvSpPr>
          <p:cNvPr id="20" name="Text 18"/>
          <p:cNvSpPr txBox="1"/>
          <p:nvPr/>
        </p:nvSpPr>
        <p:spPr>
          <a:xfrm>
            <a:off x="6949440" y="2194560"/>
            <a:ext cx="155448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en ingresos</a:t>
            </a:r>
            <a:endParaRPr lang="en-US" sz="1400" dirty="0"/>
          </a:p>
        </p:txBody>
      </p:sp>
      <p:sp>
        <p:nvSpPr>
          <p:cNvPr id="21" name="Text 19"/>
          <p:cNvSpPr txBox="1"/>
          <p:nvPr/>
        </p:nvSpPr>
        <p:spPr>
          <a:xfrm>
            <a:off x="6949440" y="2468880"/>
            <a:ext cx="1554480" cy="54864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13 productos nunca se vendieron</a:t>
            </a:r>
            <a:endParaRPr lang="en-US" sz="1100" dirty="0"/>
          </a:p>
        </p:txBody>
      </p:sp>
      <p:sp>
        <p:nvSpPr>
          <p:cNvPr id="22" name="Text 20"/>
          <p:cNvSpPr txBox="1"/>
          <p:nvPr/>
        </p:nvSpPr>
        <p:spPr>
          <a:xfrm>
            <a:off x="457200" y="3337560"/>
            <a:ext cx="82296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Adaptaciones al cargarlo (los CSV no se modifican)</a:t>
            </a:r>
            <a:endParaRPr lang="en-US" sz="1400" dirty="0"/>
          </a:p>
        </p:txBody>
      </p:sp>
      <p:sp>
        <p:nvSpPr>
          <p:cNvPr id="23" name="Text 21"/>
          <p:cNvSpPr txBox="1"/>
          <p:nvPr/>
        </p:nvSpPr>
        <p:spPr>
          <a:xfrm>
            <a:off x="457200" y="3657600"/>
            <a:ext cx="8229600" cy="11887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3B2A1E"/>
                </a:solidFill>
                <a:latin typeface="Calibri" pitchFamily="34" charset="0"/>
                <a:ea typeface="Calibri" pitchFamily="34" charset="-122"/>
                <a:cs typeface="Calibri" pitchFamily="34" charset="-120"/>
              </a:rPr>
              <a:t>7 productos se venden por peso (€/kg, el cajero ingresa gramos); “Huevos” pasa a “Huevos (docena)”</a:t>
            </a:r>
            <a:endParaRPr lang="en-US" sz="1300" dirty="0"/>
          </a:p>
          <a:p>
            <a:pPr marL="342900" indent="-342900">
              <a:spcAft>
                <a:spcPts val="600"/>
              </a:spcAft>
              <a:buSzPct val="100000"/>
              <a:buChar char="•"/>
            </a:pPr>
            <a:r>
              <a:rPr lang="en-US" sz="1300" dirty="0">
                <a:solidFill>
                  <a:srgbClr val="3B2A1E"/>
                </a:solidFill>
                <a:latin typeface="Calibri" pitchFamily="34" charset="0"/>
                <a:ea typeface="Calibri" pitchFamily="34" charset="-122"/>
                <a:cs typeface="Calibri" pitchFamily="34" charset="-120"/>
              </a:rPr>
              <a:t>Los clientes del dataset se llaman “Cliente N”; se agrega “Consumidor final”</a:t>
            </a:r>
            <a:endParaRPr lang="en-US" sz="1300" dirty="0"/>
          </a:p>
          <a:p>
            <a:pPr marL="342900" indent="-342900">
              <a:spcAft>
                <a:spcPts val="600"/>
              </a:spcAft>
              <a:buSzPct val="100000"/>
              <a:buChar char="•"/>
            </a:pPr>
            <a:r>
              <a:rPr lang="en-US" sz="1300" dirty="0">
                <a:solidFill>
                  <a:srgbClr val="3B2A1E"/>
                </a:solidFill>
                <a:latin typeface="Calibri" pitchFamily="34" charset="0"/>
                <a:ea typeface="Calibri" pitchFamily="34" charset="-122"/>
                <a:cs typeface="Calibri" pitchFamily="34" charset="-120"/>
              </a:rPr>
              <a:t>Cada venta guarda el precio del momento: si el precio cambia, el historial no se altera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1</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Dos tipos de usuario</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Cada uno ve solo lo que le corresponde</a:t>
            </a:r>
            <a:endParaRPr lang="en-US" sz="1300" dirty="0"/>
          </a:p>
        </p:txBody>
      </p:sp>
      <p:sp>
        <p:nvSpPr>
          <p:cNvPr id="6" name="Shape 4"/>
          <p:cNvSpPr/>
          <p:nvPr/>
        </p:nvSpPr>
        <p:spPr>
          <a:xfrm>
            <a:off x="457200" y="1325880"/>
            <a:ext cx="4023360" cy="3429000"/>
          </a:xfrm>
          <a:prstGeom prst="roundRect">
            <a:avLst>
              <a:gd name="adj" fmla="val 3200"/>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731520" y="1554480"/>
            <a:ext cx="594360" cy="594360"/>
          </a:xfrm>
          <a:prstGeom prst="ellipse">
            <a:avLst/>
          </a:prstGeom>
          <a:solidFill>
            <a:srgbClr val="A5582C"/>
          </a:solidFill>
          <a:ln w="12700">
            <a:solidFill>
              <a:srgbClr val="A5582C"/>
            </a:solidFill>
            <a:prstDash val="solid"/>
          </a:ln>
        </p:spPr>
      </p:sp>
      <p:pic>
        <p:nvPicPr>
          <p:cNvPr id="8" name="Image 0" descr="preencoded.png">    </p:cNvPr>
          <p:cNvPicPr>
            <a:picLocks noChangeAspect="1"/>
          </p:cNvPicPr>
          <p:nvPr/>
        </p:nvPicPr>
        <p:blipFill>
          <a:blip r:embed="rId1"/>
          <a:stretch>
            <a:fillRect/>
          </a:stretch>
        </p:blipFill>
        <p:spPr>
          <a:xfrm>
            <a:off x="880110" y="1703070"/>
            <a:ext cx="297180" cy="297180"/>
          </a:xfrm>
          <a:prstGeom prst="rect">
            <a:avLst/>
          </a:prstGeom>
        </p:spPr>
      </p:pic>
      <p:sp>
        <p:nvSpPr>
          <p:cNvPr id="9" name="Text 6"/>
          <p:cNvSpPr txBox="1"/>
          <p:nvPr/>
        </p:nvSpPr>
        <p:spPr>
          <a:xfrm>
            <a:off x="1463040" y="1554480"/>
            <a:ext cx="2743200" cy="365760"/>
          </a:xfrm>
          <a:prstGeom prst="rect">
            <a:avLst/>
          </a:prstGeom>
          <a:noFill/>
          <a:ln/>
        </p:spPr>
        <p:txBody>
          <a:bodyPr wrap="square" lIns="0" tIns="0" rIns="0" bIns="0" rtlCol="0" anchor="ctr"/>
          <a:lstStyle/>
          <a:p>
            <a:pPr indent="0" marL="0">
              <a:buNone/>
            </a:pPr>
            <a:r>
              <a:rPr lang="en-US" sz="2000" b="1" dirty="0">
                <a:solidFill>
                  <a:srgbClr val="3B2A1E"/>
                </a:solidFill>
                <a:latin typeface="Cambria" pitchFamily="34" charset="0"/>
                <a:ea typeface="Cambria" pitchFamily="34" charset="-122"/>
                <a:cs typeface="Cambria" pitchFamily="34" charset="-120"/>
              </a:rPr>
              <a:t>Administrador</a:t>
            </a:r>
            <a:endParaRPr lang="en-US" sz="2000" dirty="0"/>
          </a:p>
        </p:txBody>
      </p:sp>
      <p:sp>
        <p:nvSpPr>
          <p:cNvPr id="10" name="Text 7"/>
          <p:cNvSpPr txBox="1"/>
          <p:nvPr/>
        </p:nvSpPr>
        <p:spPr>
          <a:xfrm>
            <a:off x="1463040" y="1901952"/>
            <a:ext cx="2743200" cy="274320"/>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Dueño de la panadería</a:t>
            </a:r>
            <a:endParaRPr lang="en-US" sz="1200" dirty="0"/>
          </a:p>
        </p:txBody>
      </p:sp>
      <p:sp>
        <p:nvSpPr>
          <p:cNvPr id="11" name="Text 8"/>
          <p:cNvSpPr txBox="1"/>
          <p:nvPr/>
        </p:nvSpPr>
        <p:spPr>
          <a:xfrm>
            <a:off x="731520" y="2377440"/>
            <a:ext cx="3566160" cy="21945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Dashboard con indicadores y gráficas</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Filtro por rango de fechas</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Catálogo: crear, editar, desactivar</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Historial de cambios del catálogo</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Gestión de usuarios del sistema</a:t>
            </a:r>
            <a:endParaRPr lang="en-US" sz="1400" dirty="0"/>
          </a:p>
        </p:txBody>
      </p:sp>
      <p:sp>
        <p:nvSpPr>
          <p:cNvPr id="12" name="Shape 9"/>
          <p:cNvSpPr/>
          <p:nvPr/>
        </p:nvSpPr>
        <p:spPr>
          <a:xfrm>
            <a:off x="4663440" y="1325880"/>
            <a:ext cx="4023360" cy="3429000"/>
          </a:xfrm>
          <a:prstGeom prst="roundRect">
            <a:avLst>
              <a:gd name="adj" fmla="val 3200"/>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4937760" y="1554480"/>
            <a:ext cx="594360" cy="594360"/>
          </a:xfrm>
          <a:prstGeom prst="ellipse">
            <a:avLst/>
          </a:prstGeom>
          <a:solidFill>
            <a:srgbClr val="A5582C"/>
          </a:solidFill>
          <a:ln w="12700">
            <a:solidFill>
              <a:srgbClr val="A5582C"/>
            </a:solidFill>
            <a:prstDash val="solid"/>
          </a:ln>
        </p:spPr>
      </p:sp>
      <p:pic>
        <p:nvPicPr>
          <p:cNvPr id="14" name="Image 1" descr="preencoded.png">    </p:cNvPr>
          <p:cNvPicPr>
            <a:picLocks noChangeAspect="1"/>
          </p:cNvPicPr>
          <p:nvPr/>
        </p:nvPicPr>
        <p:blipFill>
          <a:blip r:embed="rId2"/>
          <a:stretch>
            <a:fillRect/>
          </a:stretch>
        </p:blipFill>
        <p:spPr>
          <a:xfrm>
            <a:off x="5086350" y="1703070"/>
            <a:ext cx="297180" cy="297180"/>
          </a:xfrm>
          <a:prstGeom prst="rect">
            <a:avLst/>
          </a:prstGeom>
        </p:spPr>
      </p:pic>
      <p:sp>
        <p:nvSpPr>
          <p:cNvPr id="15" name="Text 11"/>
          <p:cNvSpPr txBox="1"/>
          <p:nvPr/>
        </p:nvSpPr>
        <p:spPr>
          <a:xfrm>
            <a:off x="5669280" y="1554480"/>
            <a:ext cx="2743200" cy="365760"/>
          </a:xfrm>
          <a:prstGeom prst="rect">
            <a:avLst/>
          </a:prstGeom>
          <a:noFill/>
          <a:ln/>
        </p:spPr>
        <p:txBody>
          <a:bodyPr wrap="square" lIns="0" tIns="0" rIns="0" bIns="0" rtlCol="0" anchor="ctr"/>
          <a:lstStyle/>
          <a:p>
            <a:pPr indent="0" marL="0">
              <a:buNone/>
            </a:pPr>
            <a:r>
              <a:rPr lang="en-US" sz="2000" b="1" dirty="0">
                <a:solidFill>
                  <a:srgbClr val="3B2A1E"/>
                </a:solidFill>
                <a:latin typeface="Cambria" pitchFamily="34" charset="0"/>
                <a:ea typeface="Cambria" pitchFamily="34" charset="-122"/>
                <a:cs typeface="Cambria" pitchFamily="34" charset="-120"/>
              </a:rPr>
              <a:t>Cajero</a:t>
            </a:r>
            <a:endParaRPr lang="en-US" sz="2000" dirty="0"/>
          </a:p>
        </p:txBody>
      </p:sp>
      <p:sp>
        <p:nvSpPr>
          <p:cNvPr id="16" name="Text 12"/>
          <p:cNvSpPr txBox="1"/>
          <p:nvPr/>
        </p:nvSpPr>
        <p:spPr>
          <a:xfrm>
            <a:off x="5669280" y="1901952"/>
            <a:ext cx="2743200" cy="274320"/>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Vendedor de mostrador</a:t>
            </a:r>
            <a:endParaRPr lang="en-US" sz="1200" dirty="0"/>
          </a:p>
        </p:txBody>
      </p:sp>
      <p:sp>
        <p:nvSpPr>
          <p:cNvPr id="17" name="Text 13"/>
          <p:cNvSpPr txBox="1"/>
          <p:nvPr/>
        </p:nvSpPr>
        <p:spPr>
          <a:xfrm>
            <a:off x="4937760" y="2377440"/>
            <a:ext cx="3566160" cy="21945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Venta con carrito (unidades o gramos)</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Buscar cliente por número o nombre</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Registrar cliente nuevo solo con el nombre</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Venta a “Consumidor final”</a:t>
            </a:r>
            <a:endParaRPr lang="en-US" sz="1400" dirty="0"/>
          </a:p>
          <a:p>
            <a:pPr marL="342900" indent="-342900">
              <a:spcAft>
                <a:spcPts val="600"/>
              </a:spcAft>
              <a:buSzPct val="100000"/>
              <a:buChar char="•"/>
            </a:pPr>
            <a:r>
              <a:rPr lang="en-US" sz="1400" dirty="0">
                <a:solidFill>
                  <a:srgbClr val="3B2A1E"/>
                </a:solidFill>
                <a:latin typeface="Calibri" pitchFamily="34" charset="0"/>
                <a:ea typeface="Calibri" pitchFamily="34" charset="-122"/>
                <a:cs typeface="Calibri" pitchFamily="34" charset="-120"/>
              </a:rPr>
              <a:t>Sus ventas y total del día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1</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Requerimientos y reglas de negocio</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Todo lo que el sistema debe cumplir — y que después se prueba</a:t>
            </a:r>
            <a:endParaRPr lang="en-US" sz="1300" dirty="0"/>
          </a:p>
        </p:txBody>
      </p:sp>
      <p:sp>
        <p:nvSpPr>
          <p:cNvPr id="6" name="Shape 4"/>
          <p:cNvSpPr/>
          <p:nvPr/>
        </p:nvSpPr>
        <p:spPr>
          <a:xfrm>
            <a:off x="457200" y="1371600"/>
            <a:ext cx="2468880" cy="960120"/>
          </a:xfrm>
          <a:prstGeom prst="roundRect">
            <a:avLst>
              <a:gd name="adj" fmla="val 11429"/>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40080" y="1481328"/>
            <a:ext cx="822960" cy="731520"/>
          </a:xfrm>
          <a:prstGeom prst="rect">
            <a:avLst/>
          </a:prstGeom>
          <a:noFill/>
          <a:ln/>
        </p:spPr>
        <p:txBody>
          <a:bodyPr wrap="square" lIns="0" tIns="0" rIns="0" bIns="0" rtlCol="0" anchor="ctr"/>
          <a:lstStyle/>
          <a:p>
            <a:pPr indent="0" marL="0">
              <a:buNone/>
            </a:pPr>
            <a:r>
              <a:rPr lang="en-US" sz="3600" b="1" dirty="0">
                <a:solidFill>
                  <a:srgbClr val="A5582C"/>
                </a:solidFill>
                <a:latin typeface="Cambria" pitchFamily="34" charset="0"/>
                <a:ea typeface="Cambria" pitchFamily="34" charset="-122"/>
                <a:cs typeface="Cambria" pitchFamily="34" charset="-120"/>
              </a:rPr>
              <a:t>16</a:t>
            </a:r>
            <a:endParaRPr lang="en-US" sz="3600" dirty="0"/>
          </a:p>
        </p:txBody>
      </p:sp>
      <p:sp>
        <p:nvSpPr>
          <p:cNvPr id="8" name="Text 6"/>
          <p:cNvSpPr txBox="1"/>
          <p:nvPr/>
        </p:nvSpPr>
        <p:spPr>
          <a:xfrm>
            <a:off x="1463040" y="1481328"/>
            <a:ext cx="1371600" cy="731520"/>
          </a:xfrm>
          <a:prstGeom prst="rect">
            <a:avLst/>
          </a:prstGeom>
          <a:noFill/>
          <a:ln/>
        </p:spPr>
        <p:txBody>
          <a:bodyPr wrap="square" lIns="0" tIns="0" rIns="0" bIns="0" rtlCol="0" anchor="ctr"/>
          <a:lstStyle/>
          <a:p>
            <a:pPr indent="0" marL="0">
              <a:buNone/>
            </a:pPr>
            <a:r>
              <a:rPr lang="en-US" sz="1300" b="1" dirty="0">
                <a:solidFill>
                  <a:srgbClr val="3B2A1E"/>
                </a:solidFill>
                <a:latin typeface="Calibri" pitchFamily="34" charset="0"/>
                <a:ea typeface="Calibri" pitchFamily="34" charset="-122"/>
                <a:cs typeface="Calibri" pitchFamily="34" charset="-120"/>
              </a:rPr>
              <a:t>requerimientos funcionales</a:t>
            </a:r>
            <a:endParaRPr lang="en-US" sz="1300" dirty="0"/>
          </a:p>
        </p:txBody>
      </p:sp>
      <p:sp>
        <p:nvSpPr>
          <p:cNvPr id="9" name="Shape 7"/>
          <p:cNvSpPr/>
          <p:nvPr/>
        </p:nvSpPr>
        <p:spPr>
          <a:xfrm>
            <a:off x="457200" y="2487168"/>
            <a:ext cx="2468880" cy="960120"/>
          </a:xfrm>
          <a:prstGeom prst="roundRect">
            <a:avLst>
              <a:gd name="adj" fmla="val 11429"/>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640080" y="2596896"/>
            <a:ext cx="822960" cy="731520"/>
          </a:xfrm>
          <a:prstGeom prst="rect">
            <a:avLst/>
          </a:prstGeom>
          <a:noFill/>
          <a:ln/>
        </p:spPr>
        <p:txBody>
          <a:bodyPr wrap="square" lIns="0" tIns="0" rIns="0" bIns="0" rtlCol="0" anchor="ctr"/>
          <a:lstStyle/>
          <a:p>
            <a:pPr indent="0" marL="0">
              <a:buNone/>
            </a:pPr>
            <a:r>
              <a:rPr lang="en-US" sz="3600" b="1" dirty="0">
                <a:solidFill>
                  <a:srgbClr val="A5582C"/>
                </a:solidFill>
                <a:latin typeface="Cambria" pitchFamily="34" charset="0"/>
                <a:ea typeface="Cambria" pitchFamily="34" charset="-122"/>
                <a:cs typeface="Cambria" pitchFamily="34" charset="-120"/>
              </a:rPr>
              <a:t>8</a:t>
            </a:r>
            <a:endParaRPr lang="en-US" sz="3600" dirty="0"/>
          </a:p>
        </p:txBody>
      </p:sp>
      <p:sp>
        <p:nvSpPr>
          <p:cNvPr id="11" name="Text 9"/>
          <p:cNvSpPr txBox="1"/>
          <p:nvPr/>
        </p:nvSpPr>
        <p:spPr>
          <a:xfrm>
            <a:off x="1463040" y="2596896"/>
            <a:ext cx="1371600" cy="731520"/>
          </a:xfrm>
          <a:prstGeom prst="rect">
            <a:avLst/>
          </a:prstGeom>
          <a:noFill/>
          <a:ln/>
        </p:spPr>
        <p:txBody>
          <a:bodyPr wrap="square" lIns="0" tIns="0" rIns="0" bIns="0" rtlCol="0" anchor="ctr"/>
          <a:lstStyle/>
          <a:p>
            <a:pPr indent="0" marL="0">
              <a:buNone/>
            </a:pPr>
            <a:r>
              <a:rPr lang="en-US" sz="1300" b="1" dirty="0">
                <a:solidFill>
                  <a:srgbClr val="3B2A1E"/>
                </a:solidFill>
                <a:latin typeface="Calibri" pitchFamily="34" charset="0"/>
                <a:ea typeface="Calibri" pitchFamily="34" charset="-122"/>
                <a:cs typeface="Calibri" pitchFamily="34" charset="-120"/>
              </a:rPr>
              <a:t>requerimientos no funcionales</a:t>
            </a:r>
            <a:endParaRPr lang="en-US" sz="1300" dirty="0"/>
          </a:p>
        </p:txBody>
      </p:sp>
      <p:sp>
        <p:nvSpPr>
          <p:cNvPr id="12" name="Shape 10"/>
          <p:cNvSpPr/>
          <p:nvPr/>
        </p:nvSpPr>
        <p:spPr>
          <a:xfrm>
            <a:off x="457200" y="3602736"/>
            <a:ext cx="2468880" cy="960120"/>
          </a:xfrm>
          <a:prstGeom prst="roundRect">
            <a:avLst>
              <a:gd name="adj" fmla="val 11429"/>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40080" y="3712464"/>
            <a:ext cx="822960" cy="731520"/>
          </a:xfrm>
          <a:prstGeom prst="rect">
            <a:avLst/>
          </a:prstGeom>
          <a:noFill/>
          <a:ln/>
        </p:spPr>
        <p:txBody>
          <a:bodyPr wrap="square" lIns="0" tIns="0" rIns="0" bIns="0" rtlCol="0" anchor="ctr"/>
          <a:lstStyle/>
          <a:p>
            <a:pPr indent="0" marL="0">
              <a:buNone/>
            </a:pPr>
            <a:r>
              <a:rPr lang="en-US" sz="3600" b="1" dirty="0">
                <a:solidFill>
                  <a:srgbClr val="A5582C"/>
                </a:solidFill>
                <a:latin typeface="Cambria" pitchFamily="34" charset="0"/>
                <a:ea typeface="Cambria" pitchFamily="34" charset="-122"/>
                <a:cs typeface="Cambria" pitchFamily="34" charset="-120"/>
              </a:rPr>
              <a:t>21</a:t>
            </a:r>
            <a:endParaRPr lang="en-US" sz="3600" dirty="0"/>
          </a:p>
        </p:txBody>
      </p:sp>
      <p:sp>
        <p:nvSpPr>
          <p:cNvPr id="14" name="Text 12"/>
          <p:cNvSpPr txBox="1"/>
          <p:nvPr/>
        </p:nvSpPr>
        <p:spPr>
          <a:xfrm>
            <a:off x="1463040" y="3712464"/>
            <a:ext cx="1371600" cy="731520"/>
          </a:xfrm>
          <a:prstGeom prst="rect">
            <a:avLst/>
          </a:prstGeom>
          <a:noFill/>
          <a:ln/>
        </p:spPr>
        <p:txBody>
          <a:bodyPr wrap="square" lIns="0" tIns="0" rIns="0" bIns="0" rtlCol="0" anchor="ctr"/>
          <a:lstStyle/>
          <a:p>
            <a:pPr indent="0" marL="0">
              <a:buNone/>
            </a:pPr>
            <a:r>
              <a:rPr lang="en-US" sz="1300" b="1" dirty="0">
                <a:solidFill>
                  <a:srgbClr val="3B2A1E"/>
                </a:solidFill>
                <a:latin typeface="Calibri" pitchFamily="34" charset="0"/>
                <a:ea typeface="Calibri" pitchFamily="34" charset="-122"/>
                <a:cs typeface="Calibri" pitchFamily="34" charset="-120"/>
              </a:rPr>
              <a:t>reglas de negocio</a:t>
            </a:r>
            <a:endParaRPr lang="en-US" sz="1300" dirty="0"/>
          </a:p>
        </p:txBody>
      </p:sp>
      <p:sp>
        <p:nvSpPr>
          <p:cNvPr id="15" name="Text 13"/>
          <p:cNvSpPr txBox="1"/>
          <p:nvPr/>
        </p:nvSpPr>
        <p:spPr>
          <a:xfrm>
            <a:off x="3291840" y="1325880"/>
            <a:ext cx="5394960" cy="320040"/>
          </a:xfrm>
          <a:prstGeom prst="rect">
            <a:avLst/>
          </a:prstGeom>
          <a:noFill/>
          <a:ln/>
        </p:spPr>
        <p:txBody>
          <a:bodyPr wrap="square" lIns="0" tIns="0" rIns="0" bIns="0" rtlCol="0" anchor="ctr"/>
          <a:lstStyle/>
          <a:p>
            <a:pPr indent="0" marL="0">
              <a:buNone/>
            </a:pPr>
            <a:r>
              <a:rPr lang="en-US" sz="1500" b="1" dirty="0">
                <a:solidFill>
                  <a:srgbClr val="3B2A1E"/>
                </a:solidFill>
                <a:latin typeface="Calibri" pitchFamily="34" charset="0"/>
                <a:ea typeface="Calibri" pitchFamily="34" charset="-122"/>
                <a:cs typeface="Calibri" pitchFamily="34" charset="-120"/>
              </a:rPr>
              <a:t>Algunas reglas clave</a:t>
            </a:r>
            <a:endParaRPr lang="en-US" sz="1500" dirty="0"/>
          </a:p>
        </p:txBody>
      </p:sp>
      <p:sp>
        <p:nvSpPr>
          <p:cNvPr id="16" name="Shape 14"/>
          <p:cNvSpPr/>
          <p:nvPr/>
        </p:nvSpPr>
        <p:spPr>
          <a:xfrm>
            <a:off x="3291840" y="1737360"/>
            <a:ext cx="731520" cy="310896"/>
          </a:xfrm>
          <a:prstGeom prst="roundRect">
            <a:avLst>
              <a:gd name="adj" fmla="val 23529"/>
            </a:avLst>
          </a:prstGeom>
          <a:solidFill>
            <a:srgbClr val="FDE8CF"/>
          </a:solidFill>
          <a:ln w="12700">
            <a:solidFill>
              <a:srgbClr val="FDE8CF"/>
            </a:solidFill>
            <a:prstDash val="solid"/>
          </a:ln>
        </p:spPr>
      </p:sp>
      <p:sp>
        <p:nvSpPr>
          <p:cNvPr id="17" name="Text 15"/>
          <p:cNvSpPr txBox="1"/>
          <p:nvPr/>
        </p:nvSpPr>
        <p:spPr>
          <a:xfrm>
            <a:off x="3291840" y="1737360"/>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RN01</a:t>
            </a:r>
            <a:endParaRPr lang="en-US" sz="1100" dirty="0"/>
          </a:p>
        </p:txBody>
      </p:sp>
      <p:sp>
        <p:nvSpPr>
          <p:cNvPr id="18" name="Text 16"/>
          <p:cNvSpPr txBox="1"/>
          <p:nvPr/>
        </p:nvSpPr>
        <p:spPr>
          <a:xfrm>
            <a:off x="4160520" y="1737360"/>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Solo se vende un producto que exista y esté activo</a:t>
            </a:r>
            <a:endParaRPr lang="en-US" sz="1300" dirty="0"/>
          </a:p>
        </p:txBody>
      </p:sp>
      <p:sp>
        <p:nvSpPr>
          <p:cNvPr id="19" name="Shape 17"/>
          <p:cNvSpPr/>
          <p:nvPr/>
        </p:nvSpPr>
        <p:spPr>
          <a:xfrm>
            <a:off x="3291840" y="2167128"/>
            <a:ext cx="731520" cy="310896"/>
          </a:xfrm>
          <a:prstGeom prst="roundRect">
            <a:avLst>
              <a:gd name="adj" fmla="val 23529"/>
            </a:avLst>
          </a:prstGeom>
          <a:solidFill>
            <a:srgbClr val="FDE8CF"/>
          </a:solidFill>
          <a:ln w="12700">
            <a:solidFill>
              <a:srgbClr val="FDE8CF"/>
            </a:solidFill>
            <a:prstDash val="solid"/>
          </a:ln>
        </p:spPr>
      </p:sp>
      <p:sp>
        <p:nvSpPr>
          <p:cNvPr id="20" name="Text 18"/>
          <p:cNvSpPr txBox="1"/>
          <p:nvPr/>
        </p:nvSpPr>
        <p:spPr>
          <a:xfrm>
            <a:off x="3291840" y="2167128"/>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RN04</a:t>
            </a:r>
            <a:endParaRPr lang="en-US" sz="1100" dirty="0"/>
          </a:p>
        </p:txBody>
      </p:sp>
      <p:sp>
        <p:nvSpPr>
          <p:cNvPr id="21" name="Text 19"/>
          <p:cNvSpPr txBox="1"/>
          <p:nvPr/>
        </p:nvSpPr>
        <p:spPr>
          <a:xfrm>
            <a:off x="4160520" y="2167128"/>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Por peso: precio_kg × gramos ÷ 1000</a:t>
            </a:r>
            <a:endParaRPr lang="en-US" sz="1300" dirty="0"/>
          </a:p>
        </p:txBody>
      </p:sp>
      <p:sp>
        <p:nvSpPr>
          <p:cNvPr id="22" name="Shape 20"/>
          <p:cNvSpPr/>
          <p:nvPr/>
        </p:nvSpPr>
        <p:spPr>
          <a:xfrm>
            <a:off x="3291840" y="2596896"/>
            <a:ext cx="731520" cy="310896"/>
          </a:xfrm>
          <a:prstGeom prst="roundRect">
            <a:avLst>
              <a:gd name="adj" fmla="val 23529"/>
            </a:avLst>
          </a:prstGeom>
          <a:solidFill>
            <a:srgbClr val="FDE8CF"/>
          </a:solidFill>
          <a:ln w="12700">
            <a:solidFill>
              <a:srgbClr val="FDE8CF"/>
            </a:solidFill>
            <a:prstDash val="solid"/>
          </a:ln>
        </p:spPr>
      </p:sp>
      <p:sp>
        <p:nvSpPr>
          <p:cNvPr id="23" name="Text 21"/>
          <p:cNvSpPr txBox="1"/>
          <p:nvPr/>
        </p:nvSpPr>
        <p:spPr>
          <a:xfrm>
            <a:off x="3291840" y="2596896"/>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RN05</a:t>
            </a:r>
            <a:endParaRPr lang="en-US" sz="1100" dirty="0"/>
          </a:p>
        </p:txBody>
      </p:sp>
      <p:sp>
        <p:nvSpPr>
          <p:cNvPr id="24" name="Text 22"/>
          <p:cNvSpPr txBox="1"/>
          <p:nvPr/>
        </p:nvSpPr>
        <p:spPr>
          <a:xfrm>
            <a:off x="4160520" y="2596896"/>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El total lo calcula el back-end, nunca el navegador</a:t>
            </a:r>
            <a:endParaRPr lang="en-US" sz="1300" dirty="0"/>
          </a:p>
        </p:txBody>
      </p:sp>
      <p:sp>
        <p:nvSpPr>
          <p:cNvPr id="25" name="Shape 23"/>
          <p:cNvSpPr/>
          <p:nvPr/>
        </p:nvSpPr>
        <p:spPr>
          <a:xfrm>
            <a:off x="3291840" y="3026664"/>
            <a:ext cx="731520" cy="310896"/>
          </a:xfrm>
          <a:prstGeom prst="roundRect">
            <a:avLst>
              <a:gd name="adj" fmla="val 23529"/>
            </a:avLst>
          </a:prstGeom>
          <a:solidFill>
            <a:srgbClr val="FDE8CF"/>
          </a:solidFill>
          <a:ln w="12700">
            <a:solidFill>
              <a:srgbClr val="FDE8CF"/>
            </a:solidFill>
            <a:prstDash val="solid"/>
          </a:ln>
        </p:spPr>
      </p:sp>
      <p:sp>
        <p:nvSpPr>
          <p:cNvPr id="26" name="Text 24"/>
          <p:cNvSpPr txBox="1"/>
          <p:nvPr/>
        </p:nvSpPr>
        <p:spPr>
          <a:xfrm>
            <a:off x="3291840" y="3026664"/>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RN11</a:t>
            </a:r>
            <a:endParaRPr lang="en-US" sz="1100" dirty="0"/>
          </a:p>
        </p:txBody>
      </p:sp>
      <p:sp>
        <p:nvSpPr>
          <p:cNvPr id="27" name="Text 25"/>
          <p:cNvSpPr txBox="1"/>
          <p:nvPr/>
        </p:nvSpPr>
        <p:spPr>
          <a:xfrm>
            <a:off x="4160520" y="3026664"/>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Los productos no se borran: se desactivan</a:t>
            </a:r>
            <a:endParaRPr lang="en-US" sz="1300" dirty="0"/>
          </a:p>
        </p:txBody>
      </p:sp>
      <p:sp>
        <p:nvSpPr>
          <p:cNvPr id="28" name="Shape 26"/>
          <p:cNvSpPr/>
          <p:nvPr/>
        </p:nvSpPr>
        <p:spPr>
          <a:xfrm>
            <a:off x="3291840" y="3456432"/>
            <a:ext cx="731520" cy="310896"/>
          </a:xfrm>
          <a:prstGeom prst="roundRect">
            <a:avLst>
              <a:gd name="adj" fmla="val 23529"/>
            </a:avLst>
          </a:prstGeom>
          <a:solidFill>
            <a:srgbClr val="FDE8CF"/>
          </a:solidFill>
          <a:ln w="12700">
            <a:solidFill>
              <a:srgbClr val="FDE8CF"/>
            </a:solidFill>
            <a:prstDash val="solid"/>
          </a:ln>
        </p:spPr>
      </p:sp>
      <p:sp>
        <p:nvSpPr>
          <p:cNvPr id="29" name="Text 27"/>
          <p:cNvSpPr txBox="1"/>
          <p:nvPr/>
        </p:nvSpPr>
        <p:spPr>
          <a:xfrm>
            <a:off x="3291840" y="3456432"/>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RN12</a:t>
            </a:r>
            <a:endParaRPr lang="en-US" sz="1100" dirty="0"/>
          </a:p>
        </p:txBody>
      </p:sp>
      <p:sp>
        <p:nvSpPr>
          <p:cNvPr id="30" name="Text 28"/>
          <p:cNvSpPr txBox="1"/>
          <p:nvPr/>
        </p:nvSpPr>
        <p:spPr>
          <a:xfrm>
            <a:off x="4160520" y="3456432"/>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Todo cambio del catálogo queda en el historial</a:t>
            </a:r>
            <a:endParaRPr lang="en-US" sz="1300" dirty="0"/>
          </a:p>
        </p:txBody>
      </p:sp>
      <p:sp>
        <p:nvSpPr>
          <p:cNvPr id="31" name="Shape 29"/>
          <p:cNvSpPr/>
          <p:nvPr/>
        </p:nvSpPr>
        <p:spPr>
          <a:xfrm>
            <a:off x="3291840" y="3886200"/>
            <a:ext cx="731520" cy="310896"/>
          </a:xfrm>
          <a:prstGeom prst="roundRect">
            <a:avLst>
              <a:gd name="adj" fmla="val 23529"/>
            </a:avLst>
          </a:prstGeom>
          <a:solidFill>
            <a:srgbClr val="FDE8CF"/>
          </a:solidFill>
          <a:ln w="12700">
            <a:solidFill>
              <a:srgbClr val="FDE8CF"/>
            </a:solidFill>
            <a:prstDash val="solid"/>
          </a:ln>
        </p:spPr>
      </p:sp>
      <p:sp>
        <p:nvSpPr>
          <p:cNvPr id="32" name="Text 30"/>
          <p:cNvSpPr txBox="1"/>
          <p:nvPr/>
        </p:nvSpPr>
        <p:spPr>
          <a:xfrm>
            <a:off x="3291840" y="3886200"/>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RN15</a:t>
            </a:r>
            <a:endParaRPr lang="en-US" sz="1100" dirty="0"/>
          </a:p>
        </p:txBody>
      </p:sp>
      <p:sp>
        <p:nvSpPr>
          <p:cNvPr id="33" name="Text 31"/>
          <p:cNvSpPr txBox="1"/>
          <p:nvPr/>
        </p:nvSpPr>
        <p:spPr>
          <a:xfrm>
            <a:off x="4160520" y="3886200"/>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La venta es todo o nada</a:t>
            </a:r>
            <a:endParaRPr lang="en-US" sz="1300" dirty="0"/>
          </a:p>
        </p:txBody>
      </p:sp>
      <p:sp>
        <p:nvSpPr>
          <p:cNvPr id="34" name="Shape 32"/>
          <p:cNvSpPr/>
          <p:nvPr/>
        </p:nvSpPr>
        <p:spPr>
          <a:xfrm>
            <a:off x="3291840" y="4315968"/>
            <a:ext cx="731520" cy="310896"/>
          </a:xfrm>
          <a:prstGeom prst="roundRect">
            <a:avLst>
              <a:gd name="adj" fmla="val 23529"/>
            </a:avLst>
          </a:prstGeom>
          <a:solidFill>
            <a:srgbClr val="FDE8CF"/>
          </a:solidFill>
          <a:ln w="12700">
            <a:solidFill>
              <a:srgbClr val="FDE8CF"/>
            </a:solidFill>
            <a:prstDash val="solid"/>
          </a:ln>
        </p:spPr>
      </p:sp>
      <p:sp>
        <p:nvSpPr>
          <p:cNvPr id="35" name="Text 33"/>
          <p:cNvSpPr txBox="1"/>
          <p:nvPr/>
        </p:nvSpPr>
        <p:spPr>
          <a:xfrm>
            <a:off x="3291840" y="4315968"/>
            <a:ext cx="731520" cy="310896"/>
          </a:xfrm>
          <a:prstGeom prst="rect">
            <a:avLst/>
          </a:prstGeom>
          <a:noFill/>
          <a:ln/>
        </p:spPr>
        <p:txBody>
          <a:bodyPr wrap="square" lIns="0" tIns="0" rIns="0" bIns="0" rtlCol="0" anchor="ctr"/>
          <a:lstStyle/>
          <a:p>
            <a:pPr algn="ctr" indent="0" marL="0">
              <a:buNone/>
            </a:pPr>
            <a:r>
              <a:rPr lang="en-US" sz="1100" b="1" dirty="0">
                <a:solidFill>
                  <a:srgbClr val="7A3E1D"/>
                </a:solidFill>
                <a:latin typeface="Calibri" pitchFamily="34" charset="0"/>
                <a:ea typeface="Calibri" pitchFamily="34" charset="-122"/>
                <a:cs typeface="Calibri" pitchFamily="34" charset="-120"/>
              </a:rPr>
              <a:t>RN16</a:t>
            </a:r>
            <a:endParaRPr lang="en-US" sz="1100" dirty="0"/>
          </a:p>
        </p:txBody>
      </p:sp>
      <p:sp>
        <p:nvSpPr>
          <p:cNvPr id="36" name="Text 34"/>
          <p:cNvSpPr txBox="1"/>
          <p:nvPr/>
        </p:nvSpPr>
        <p:spPr>
          <a:xfrm>
            <a:off x="4160520" y="4315968"/>
            <a:ext cx="4572000" cy="310896"/>
          </a:xfrm>
          <a:prstGeom prst="rect">
            <a:avLst/>
          </a:prstGeom>
          <a:noFill/>
          <a:ln/>
        </p:spPr>
        <p:txBody>
          <a:bodyPr wrap="square" lIns="0" tIns="0" rIns="0" bIns="0" rtlCol="0" anchor="ctr"/>
          <a:lstStyle/>
          <a:p>
            <a:pPr indent="0" marL="0">
              <a:buNone/>
            </a:pPr>
            <a:r>
              <a:rPr lang="en-US" sz="1300" dirty="0">
                <a:solidFill>
                  <a:srgbClr val="3B2A1E"/>
                </a:solidFill>
                <a:latin typeface="Calibri" pitchFamily="34" charset="0"/>
                <a:ea typeface="Calibri" pitchFamily="34" charset="-122"/>
                <a:cs typeface="Calibri" pitchFamily="34" charset="-120"/>
              </a:rPr>
              <a:t>Total = suma exacta de los subtotales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2A1E"/>
        </a:solidFill>
      </p:bgPr>
    </p:bg>
    <p:spTree>
      <p:nvGrpSpPr>
        <p:cNvPr id="1" name=""/>
        <p:cNvGrpSpPr/>
        <p:nvPr/>
      </p:nvGrpSpPr>
      <p:grpSpPr>
        <a:xfrm>
          <a:off x="0" y="0"/>
          <a:ext cx="0" cy="0"/>
          <a:chOff x="0" y="0"/>
          <a:chExt cx="0" cy="0"/>
        </a:xfrm>
      </p:grpSpPr>
      <p:sp>
        <p:nvSpPr>
          <p:cNvPr id="2" name="Text 0"/>
          <p:cNvSpPr txBox="1"/>
          <p:nvPr/>
        </p:nvSpPr>
        <p:spPr>
          <a:xfrm>
            <a:off x="731520" y="1463040"/>
            <a:ext cx="7315200" cy="457200"/>
          </a:xfrm>
          <a:prstGeom prst="rect">
            <a:avLst/>
          </a:prstGeom>
          <a:noFill/>
          <a:ln/>
        </p:spPr>
        <p:txBody>
          <a:bodyPr wrap="square" lIns="0" tIns="0" rIns="0" bIns="0" rtlCol="0" anchor="ctr"/>
          <a:lstStyle/>
          <a:p>
            <a:pPr indent="0" marL="0">
              <a:buNone/>
            </a:pPr>
            <a:r>
              <a:rPr lang="en-US" sz="1600" b="1" spc="400" kern="0" dirty="0">
                <a:solidFill>
                  <a:srgbClr val="F5B370"/>
                </a:solidFill>
                <a:latin typeface="Calibri" pitchFamily="34" charset="0"/>
                <a:ea typeface="Calibri" pitchFamily="34" charset="-122"/>
                <a:cs typeface="Calibri" pitchFamily="34" charset="-120"/>
              </a:rPr>
              <a:t>FASE 2</a:t>
            </a:r>
            <a:endParaRPr lang="en-US" sz="1600" dirty="0"/>
          </a:p>
        </p:txBody>
      </p:sp>
      <p:sp>
        <p:nvSpPr>
          <p:cNvPr id="3" name="Text 1"/>
          <p:cNvSpPr txBox="1"/>
          <p:nvPr/>
        </p:nvSpPr>
        <p:spPr>
          <a:xfrm>
            <a:off x="731520" y="192024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Diseño</a:t>
            </a:r>
            <a:endParaRPr lang="en-US" sz="44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indent="0" marL="0">
              <a:buNone/>
            </a:pPr>
            <a:r>
              <a:rPr lang="en-US" sz="1600" dirty="0">
                <a:solidFill>
                  <a:srgbClr val="D9C7B0"/>
                </a:solidFill>
                <a:latin typeface="Calibri" pitchFamily="34" charset="0"/>
                <a:ea typeface="Calibri" pitchFamily="34" charset="-122"/>
                <a:cs typeface="Calibri" pitchFamily="34" charset="-120"/>
              </a:rPr>
              <a:t>Arquitectura de microservicios, componentes y modelo de datos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2</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Arquitectura del sistema</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Microservicios accedidos por API REST, en tres máquinas virtuales</a:t>
            </a:r>
            <a:endParaRPr lang="en-US" sz="1300" dirty="0"/>
          </a:p>
        </p:txBody>
      </p:sp>
      <p:sp>
        <p:nvSpPr>
          <p:cNvPr id="6" name="Shape 4"/>
          <p:cNvSpPr/>
          <p:nvPr/>
        </p:nvSpPr>
        <p:spPr>
          <a:xfrm>
            <a:off x="365760" y="2148840"/>
            <a:ext cx="1463040" cy="1097280"/>
          </a:xfrm>
          <a:prstGeom prst="roundRect">
            <a:avLst>
              <a:gd name="adj" fmla="val 10000"/>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868680" y="2286000"/>
            <a:ext cx="457200" cy="457200"/>
          </a:xfrm>
          <a:prstGeom prst="rect">
            <a:avLst/>
          </a:prstGeom>
        </p:spPr>
      </p:pic>
      <p:sp>
        <p:nvSpPr>
          <p:cNvPr id="8" name="Text 5"/>
          <p:cNvSpPr txBox="1"/>
          <p:nvPr/>
        </p:nvSpPr>
        <p:spPr>
          <a:xfrm>
            <a:off x="411480" y="2743200"/>
            <a:ext cx="1371600" cy="457200"/>
          </a:xfrm>
          <a:prstGeom prst="rect">
            <a:avLst/>
          </a:prstGeom>
          <a:noFill/>
          <a:ln/>
        </p:spPr>
        <p:txBody>
          <a:bodyPr wrap="square" lIns="0" tIns="0" rIns="0" bIns="0" rtlCol="0" anchor="ctr"/>
          <a:lstStyle/>
          <a:p>
            <a:pPr algn="ctr" indent="0" marL="0">
              <a:buNone/>
            </a:pPr>
            <a:r>
              <a:rPr lang="en-US" sz="1100" b="1" dirty="0">
                <a:solidFill>
                  <a:srgbClr val="3B2A1E"/>
                </a:solidFill>
                <a:latin typeface="Calibri" pitchFamily="34" charset="0"/>
                <a:ea typeface="Calibri" pitchFamily="34" charset="-122"/>
                <a:cs typeface="Calibri" pitchFamily="34" charset="-120"/>
              </a:rPr>
              <a:t>Cliente Windows</a:t>
            </a:r>
            <a:endParaRPr lang="en-US" sz="1100" dirty="0"/>
          </a:p>
          <a:p>
            <a:pPr algn="ctr" indent="0" marL="0">
              <a:buNone/>
            </a:pPr>
            <a:r>
              <a:rPr lang="en-US" sz="1100" b="1" dirty="0">
                <a:solidFill>
                  <a:srgbClr val="3B2A1E"/>
                </a:solidFill>
                <a:latin typeface="Calibri" pitchFamily="34" charset="0"/>
                <a:ea typeface="Calibri" pitchFamily="34" charset="-122"/>
                <a:cs typeface="Calibri" pitchFamily="34" charset="-120"/>
              </a:rPr>
              <a:t>navegador</a:t>
            </a:r>
            <a:endParaRPr lang="en-US" sz="1100" dirty="0"/>
          </a:p>
        </p:txBody>
      </p:sp>
      <p:sp>
        <p:nvSpPr>
          <p:cNvPr id="9" name="Shape 6"/>
          <p:cNvSpPr/>
          <p:nvPr/>
        </p:nvSpPr>
        <p:spPr>
          <a:xfrm>
            <a:off x="2377440" y="1234440"/>
            <a:ext cx="2286000" cy="868680"/>
          </a:xfrm>
          <a:prstGeom prst="roundRect">
            <a:avLst>
              <a:gd name="adj" fmla="val 10526"/>
            </a:avLst>
          </a:prstGeom>
          <a:solidFill>
            <a:srgbClr val="3B2A1E"/>
          </a:solidFill>
          <a:ln w="12700">
            <a:solidFill>
              <a:srgbClr val="3B2A1E"/>
            </a:solidFill>
            <a:prstDash val="solid"/>
          </a:ln>
        </p:spPr>
      </p:sp>
      <p:sp>
        <p:nvSpPr>
          <p:cNvPr id="10" name="Text 7"/>
          <p:cNvSpPr txBox="1"/>
          <p:nvPr/>
        </p:nvSpPr>
        <p:spPr>
          <a:xfrm>
            <a:off x="2514600" y="1307592"/>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dns-vm</a:t>
            </a:r>
            <a:endParaRPr lang="en-US" sz="1300" dirty="0"/>
          </a:p>
        </p:txBody>
      </p:sp>
      <p:sp>
        <p:nvSpPr>
          <p:cNvPr id="11" name="Text 8"/>
          <p:cNvSpPr txBox="1"/>
          <p:nvPr/>
        </p:nvSpPr>
        <p:spPr>
          <a:xfrm>
            <a:off x="2514600" y="1563624"/>
            <a:ext cx="2011680" cy="228600"/>
          </a:xfrm>
          <a:prstGeom prst="rect">
            <a:avLst/>
          </a:prstGeom>
          <a:noFill/>
          <a:ln/>
        </p:spPr>
        <p:txBody>
          <a:bodyPr wrap="square" lIns="0" tIns="0" rIns="0" bIns="0" rtlCol="0" anchor="ctr"/>
          <a:lstStyle/>
          <a:p>
            <a:pPr indent="0" marL="0">
              <a:buNone/>
            </a:pPr>
            <a:r>
              <a:rPr lang="en-US" sz="1000" dirty="0">
                <a:solidFill>
                  <a:srgbClr val="F5B370"/>
                </a:solidFill>
                <a:latin typeface="Calibri" pitchFamily="34" charset="0"/>
                <a:ea typeface="Calibri" pitchFamily="34" charset="-122"/>
                <a:cs typeface="Calibri" pitchFamily="34" charset="-120"/>
              </a:rPr>
              <a:t>192.168.56.10 · BIND9</a:t>
            </a:r>
            <a:endParaRPr lang="en-US" sz="1000" dirty="0"/>
          </a:p>
        </p:txBody>
      </p:sp>
      <p:sp>
        <p:nvSpPr>
          <p:cNvPr id="12" name="Text 9"/>
          <p:cNvSpPr txBox="1"/>
          <p:nvPr/>
        </p:nvSpPr>
        <p:spPr>
          <a:xfrm>
            <a:off x="2514600" y="1810512"/>
            <a:ext cx="2011680" cy="228600"/>
          </a:xfrm>
          <a:prstGeom prst="rect">
            <a:avLst/>
          </a:prstGeom>
          <a:noFill/>
          <a:ln/>
        </p:spPr>
        <p:txBody>
          <a:bodyPr wrap="square" lIns="0" tIns="0" rIns="0" bIns="0" rtlCol="0" anchor="ctr"/>
          <a:lstStyle/>
          <a:p>
            <a:pPr indent="0" marL="0">
              <a:buNone/>
            </a:pPr>
            <a:r>
              <a:rPr lang="en-US" sz="1000" dirty="0">
                <a:solidFill>
                  <a:srgbClr val="D9C7B0"/>
                </a:solidFill>
                <a:latin typeface="Calibri" pitchFamily="34" charset="0"/>
                <a:ea typeface="Calibri" pitchFamily="34" charset="-122"/>
                <a:cs typeface="Calibri" pitchFamily="34" charset="-120"/>
              </a:rPr>
              <a:t>zona panaderia-pos.test</a:t>
            </a:r>
            <a:endParaRPr lang="en-US" sz="1000" dirty="0"/>
          </a:p>
        </p:txBody>
      </p:sp>
      <p:sp>
        <p:nvSpPr>
          <p:cNvPr id="13" name="Shape 10"/>
          <p:cNvSpPr/>
          <p:nvPr/>
        </p:nvSpPr>
        <p:spPr>
          <a:xfrm>
            <a:off x="2377440" y="3063240"/>
            <a:ext cx="2286000" cy="1554480"/>
          </a:xfrm>
          <a:prstGeom prst="roundRect">
            <a:avLst>
              <a:gd name="adj" fmla="val 5882"/>
            </a:avLst>
          </a:prstGeom>
          <a:solidFill>
            <a:srgbClr val="3B2A1E"/>
          </a:solidFill>
          <a:ln w="12700">
            <a:solidFill>
              <a:srgbClr val="3B2A1E"/>
            </a:solidFill>
            <a:prstDash val="solid"/>
          </a:ln>
        </p:spPr>
      </p:sp>
      <p:sp>
        <p:nvSpPr>
          <p:cNvPr id="14" name="Text 11"/>
          <p:cNvSpPr txBox="1"/>
          <p:nvPr/>
        </p:nvSpPr>
        <p:spPr>
          <a:xfrm>
            <a:off x="2514600" y="3136392"/>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front-vm</a:t>
            </a:r>
            <a:endParaRPr lang="en-US" sz="1300" dirty="0"/>
          </a:p>
        </p:txBody>
      </p:sp>
      <p:sp>
        <p:nvSpPr>
          <p:cNvPr id="15" name="Text 12"/>
          <p:cNvSpPr txBox="1"/>
          <p:nvPr/>
        </p:nvSpPr>
        <p:spPr>
          <a:xfrm>
            <a:off x="2514600" y="3392424"/>
            <a:ext cx="2011680" cy="228600"/>
          </a:xfrm>
          <a:prstGeom prst="rect">
            <a:avLst/>
          </a:prstGeom>
          <a:noFill/>
          <a:ln/>
        </p:spPr>
        <p:txBody>
          <a:bodyPr wrap="square" lIns="0" tIns="0" rIns="0" bIns="0" rtlCol="0" anchor="ctr"/>
          <a:lstStyle/>
          <a:p>
            <a:pPr indent="0" marL="0">
              <a:buNone/>
            </a:pPr>
            <a:r>
              <a:rPr lang="en-US" sz="1000" dirty="0">
                <a:solidFill>
                  <a:srgbClr val="F5B370"/>
                </a:solidFill>
                <a:latin typeface="Calibri" pitchFamily="34" charset="0"/>
                <a:ea typeface="Calibri" pitchFamily="34" charset="-122"/>
                <a:cs typeface="Calibri" pitchFamily="34" charset="-120"/>
              </a:rPr>
              <a:t>192.168.56.11 · panaderia-pos.test</a:t>
            </a:r>
            <a:endParaRPr lang="en-US" sz="1000" dirty="0"/>
          </a:p>
        </p:txBody>
      </p:sp>
      <p:sp>
        <p:nvSpPr>
          <p:cNvPr id="16" name="Shape 13"/>
          <p:cNvSpPr/>
          <p:nvPr/>
        </p:nvSpPr>
        <p:spPr>
          <a:xfrm>
            <a:off x="2560320" y="3703320"/>
            <a:ext cx="1920240" cy="731520"/>
          </a:xfrm>
          <a:prstGeom prst="roundRect">
            <a:avLst>
              <a:gd name="adj" fmla="val 7500"/>
            </a:avLst>
          </a:prstGeom>
          <a:solidFill>
            <a:srgbClr val="FCF3E4"/>
          </a:solidFill>
          <a:ln w="12700">
            <a:solidFill>
              <a:srgbClr val="FCF3E4"/>
            </a:solidFill>
            <a:prstDash val="solid"/>
          </a:ln>
        </p:spPr>
      </p:sp>
      <p:sp>
        <p:nvSpPr>
          <p:cNvPr id="17" name="Text 14"/>
          <p:cNvSpPr txBox="1"/>
          <p:nvPr/>
        </p:nvSpPr>
        <p:spPr>
          <a:xfrm>
            <a:off x="2560320" y="3703320"/>
            <a:ext cx="1920240" cy="731520"/>
          </a:xfrm>
          <a:prstGeom prst="rect">
            <a:avLst/>
          </a:prstGeom>
          <a:noFill/>
          <a:ln/>
        </p:spPr>
        <p:txBody>
          <a:bodyPr wrap="square" lIns="0" tIns="0" rIns="0" bIns="0" rtlCol="0" anchor="ctr"/>
          <a:lstStyle/>
          <a:p>
            <a:pPr algn="ctr" indent="0" marL="0">
              <a:buNone/>
            </a:pPr>
            <a:r>
              <a:rPr lang="en-US" sz="1100" b="1" dirty="0">
                <a:solidFill>
                  <a:srgbClr val="3B2A1E"/>
                </a:solidFill>
                <a:latin typeface="Calibri" pitchFamily="34" charset="0"/>
                <a:ea typeface="Calibri" pitchFamily="34" charset="-122"/>
                <a:cs typeface="Calibri" pitchFamily="34" charset="-120"/>
              </a:rPr>
              <a:t>Nginx :80</a:t>
            </a:r>
            <a:endParaRPr lang="en-US" sz="1100" dirty="0"/>
          </a:p>
          <a:p>
            <a:pPr algn="ctr" indent="0" marL="0">
              <a:buNone/>
            </a:pPr>
            <a:r>
              <a:rPr lang="en-US" sz="1100" b="1" dirty="0">
                <a:solidFill>
                  <a:srgbClr val="3B2A1E"/>
                </a:solidFill>
                <a:latin typeface="Calibri" pitchFamily="34" charset="0"/>
                <a:ea typeface="Calibri" pitchFamily="34" charset="-122"/>
                <a:cs typeface="Calibri" pitchFamily="34" charset="-120"/>
              </a:rPr>
              <a:t>HTML · CSS · JS</a:t>
            </a:r>
            <a:endParaRPr lang="en-US" sz="1100" dirty="0"/>
          </a:p>
        </p:txBody>
      </p:sp>
      <p:sp>
        <p:nvSpPr>
          <p:cNvPr id="18" name="Shape 15"/>
          <p:cNvSpPr/>
          <p:nvPr/>
        </p:nvSpPr>
        <p:spPr>
          <a:xfrm>
            <a:off x="5257800" y="1234440"/>
            <a:ext cx="3520440" cy="3383280"/>
          </a:xfrm>
          <a:prstGeom prst="roundRect">
            <a:avLst>
              <a:gd name="adj" fmla="val 2703"/>
            </a:avLst>
          </a:prstGeom>
          <a:solidFill>
            <a:srgbClr val="3B2A1E"/>
          </a:solidFill>
          <a:ln w="12700">
            <a:solidFill>
              <a:srgbClr val="3B2A1E"/>
            </a:solidFill>
            <a:prstDash val="solid"/>
          </a:ln>
        </p:spPr>
      </p:sp>
      <p:sp>
        <p:nvSpPr>
          <p:cNvPr id="19" name="Text 16"/>
          <p:cNvSpPr txBox="1"/>
          <p:nvPr/>
        </p:nvSpPr>
        <p:spPr>
          <a:xfrm>
            <a:off x="5394960" y="1307592"/>
            <a:ext cx="32461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back-vm</a:t>
            </a:r>
            <a:endParaRPr lang="en-US" sz="1300" dirty="0"/>
          </a:p>
        </p:txBody>
      </p:sp>
      <p:sp>
        <p:nvSpPr>
          <p:cNvPr id="20" name="Text 17"/>
          <p:cNvSpPr txBox="1"/>
          <p:nvPr/>
        </p:nvSpPr>
        <p:spPr>
          <a:xfrm>
            <a:off x="5394960" y="1563624"/>
            <a:ext cx="3246120" cy="228600"/>
          </a:xfrm>
          <a:prstGeom prst="rect">
            <a:avLst/>
          </a:prstGeom>
          <a:noFill/>
          <a:ln/>
        </p:spPr>
        <p:txBody>
          <a:bodyPr wrap="square" lIns="0" tIns="0" rIns="0" bIns="0" rtlCol="0" anchor="ctr"/>
          <a:lstStyle/>
          <a:p>
            <a:pPr indent="0" marL="0">
              <a:buNone/>
            </a:pPr>
            <a:r>
              <a:rPr lang="en-US" sz="1000" dirty="0">
                <a:solidFill>
                  <a:srgbClr val="F5B370"/>
                </a:solidFill>
                <a:latin typeface="Calibri" pitchFamily="34" charset="0"/>
                <a:ea typeface="Calibri" pitchFamily="34" charset="-122"/>
                <a:cs typeface="Calibri" pitchFamily="34" charset="-120"/>
              </a:rPr>
              <a:t>192.168.56.12 · api.panaderia-pos.test</a:t>
            </a:r>
            <a:endParaRPr lang="en-US" sz="1000" dirty="0"/>
          </a:p>
        </p:txBody>
      </p:sp>
      <p:sp>
        <p:nvSpPr>
          <p:cNvPr id="21" name="Shape 18"/>
          <p:cNvSpPr/>
          <p:nvPr/>
        </p:nvSpPr>
        <p:spPr>
          <a:xfrm>
            <a:off x="5440680" y="1874520"/>
            <a:ext cx="3154680" cy="457200"/>
          </a:xfrm>
          <a:prstGeom prst="roundRect">
            <a:avLst>
              <a:gd name="adj" fmla="val 12000"/>
            </a:avLst>
          </a:prstGeom>
          <a:solidFill>
            <a:srgbClr val="F5B370"/>
          </a:solidFill>
          <a:ln w="12700">
            <a:solidFill>
              <a:srgbClr val="F5B370"/>
            </a:solidFill>
            <a:prstDash val="solid"/>
          </a:ln>
        </p:spPr>
      </p:sp>
      <p:sp>
        <p:nvSpPr>
          <p:cNvPr id="22" name="Text 19"/>
          <p:cNvSpPr txBox="1"/>
          <p:nvPr/>
        </p:nvSpPr>
        <p:spPr>
          <a:xfrm>
            <a:off x="5440680" y="1874520"/>
            <a:ext cx="3154680" cy="457200"/>
          </a:xfrm>
          <a:prstGeom prst="rect">
            <a:avLst/>
          </a:prstGeom>
          <a:noFill/>
          <a:ln/>
        </p:spPr>
        <p:txBody>
          <a:bodyPr wrap="square" lIns="0" tIns="0" rIns="0" bIns="0" rtlCol="0" anchor="ctr"/>
          <a:lstStyle/>
          <a:p>
            <a:pPr algn="ctr" indent="0" marL="0">
              <a:buNone/>
            </a:pPr>
            <a:r>
              <a:rPr lang="en-US" sz="1200" b="1" dirty="0">
                <a:solidFill>
                  <a:srgbClr val="3B2A1E"/>
                </a:solidFill>
                <a:latin typeface="Calibri" pitchFamily="34" charset="0"/>
                <a:ea typeface="Calibri" pitchFamily="34" charset="-122"/>
                <a:cs typeface="Calibri" pitchFamily="34" charset="-120"/>
              </a:rPr>
              <a:t>Nginx :80 — API Gateway</a:t>
            </a:r>
            <a:endParaRPr lang="en-US" sz="1200" dirty="0"/>
          </a:p>
        </p:txBody>
      </p:sp>
      <p:sp>
        <p:nvSpPr>
          <p:cNvPr id="23" name="Shape 20"/>
          <p:cNvSpPr/>
          <p:nvPr/>
        </p:nvSpPr>
        <p:spPr>
          <a:xfrm>
            <a:off x="5440680" y="2560320"/>
            <a:ext cx="996696" cy="914400"/>
          </a:xfrm>
          <a:prstGeom prst="roundRect">
            <a:avLst>
              <a:gd name="adj" fmla="val 6000"/>
            </a:avLst>
          </a:prstGeom>
          <a:solidFill>
            <a:srgbClr val="FCF3E4"/>
          </a:solidFill>
          <a:ln w="12700">
            <a:solidFill>
              <a:srgbClr val="FCF3E4"/>
            </a:solidFill>
            <a:prstDash val="solid"/>
          </a:ln>
        </p:spPr>
      </p:sp>
      <p:sp>
        <p:nvSpPr>
          <p:cNvPr id="24" name="Text 21"/>
          <p:cNvSpPr txBox="1"/>
          <p:nvPr/>
        </p:nvSpPr>
        <p:spPr>
          <a:xfrm>
            <a:off x="5440680" y="2560320"/>
            <a:ext cx="996696" cy="914400"/>
          </a:xfrm>
          <a:prstGeom prst="rect">
            <a:avLst/>
          </a:prstGeom>
          <a:noFill/>
          <a:ln/>
        </p:spPr>
        <p:txBody>
          <a:bodyPr wrap="square" lIns="0" tIns="0" rIns="0" bIns="0" rtlCol="0" anchor="ctr"/>
          <a:lstStyle/>
          <a:p>
            <a:pPr algn="ctr" indent="0" marL="0">
              <a:buNone/>
            </a:pPr>
            <a:r>
              <a:rPr lang="en-US" sz="1100" b="1" dirty="0">
                <a:solidFill>
                  <a:srgbClr val="3B2A1E"/>
                </a:solidFill>
                <a:latin typeface="Calibri" pitchFamily="34" charset="0"/>
                <a:ea typeface="Calibri" pitchFamily="34" charset="-122"/>
                <a:cs typeface="Calibri" pitchFamily="34" charset="-120"/>
              </a:rPr>
              <a:t>auth</a:t>
            </a:r>
            <a:endParaRPr lang="en-US" sz="1100" dirty="0"/>
          </a:p>
          <a:p>
            <a:pPr algn="ctr" indent="0" marL="0">
              <a:buNone/>
            </a:pPr>
            <a:r>
              <a:rPr lang="en-US" sz="1100" dirty="0">
                <a:solidFill>
                  <a:srgbClr val="3B2A1E"/>
                </a:solidFill>
                <a:latin typeface="Calibri" pitchFamily="34" charset="0"/>
                <a:ea typeface="Calibri" pitchFamily="34" charset="-122"/>
                <a:cs typeface="Calibri" pitchFamily="34" charset="-120"/>
              </a:rPr>
              <a:t>:8001</a:t>
            </a:r>
            <a:endParaRPr lang="en-US" sz="1100" dirty="0"/>
          </a:p>
        </p:txBody>
      </p:sp>
      <p:sp>
        <p:nvSpPr>
          <p:cNvPr id="25" name="Shape 22"/>
          <p:cNvSpPr/>
          <p:nvPr/>
        </p:nvSpPr>
        <p:spPr>
          <a:xfrm>
            <a:off x="5623560" y="3657600"/>
            <a:ext cx="630936" cy="502920"/>
          </a:xfrm>
          <a:prstGeom prst="can">
            <a:avLst/>
          </a:prstGeom>
          <a:solidFill>
            <a:srgbClr val="FDE8CF"/>
          </a:solidFill>
          <a:ln w="9525">
            <a:solidFill>
              <a:srgbClr val="A5582C"/>
            </a:solidFill>
            <a:prstDash val="solid"/>
          </a:ln>
        </p:spPr>
      </p:sp>
      <p:sp>
        <p:nvSpPr>
          <p:cNvPr id="26" name="Text 23"/>
          <p:cNvSpPr txBox="1"/>
          <p:nvPr/>
        </p:nvSpPr>
        <p:spPr>
          <a:xfrm>
            <a:off x="5394960" y="4206240"/>
            <a:ext cx="1088136" cy="274320"/>
          </a:xfrm>
          <a:prstGeom prst="rect">
            <a:avLst/>
          </a:prstGeom>
          <a:noFill/>
          <a:ln/>
        </p:spPr>
        <p:txBody>
          <a:bodyPr wrap="square" lIns="0" tIns="0" rIns="0" bIns="0" rtlCol="0" anchor="ctr"/>
          <a:lstStyle/>
          <a:p>
            <a:pPr algn="ctr" indent="0" marL="0">
              <a:buNone/>
            </a:pPr>
            <a:r>
              <a:rPr lang="en-US" sz="900" dirty="0">
                <a:solidFill>
                  <a:srgbClr val="D9C7B0"/>
                </a:solidFill>
                <a:latin typeface="Calibri" pitchFamily="34" charset="0"/>
                <a:ea typeface="Calibri" pitchFamily="34" charset="-122"/>
                <a:cs typeface="Calibri" pitchFamily="34" charset="-120"/>
              </a:rPr>
              <a:t>auth.db</a:t>
            </a:r>
            <a:endParaRPr lang="en-US" sz="900" dirty="0"/>
          </a:p>
        </p:txBody>
      </p:sp>
      <p:sp>
        <p:nvSpPr>
          <p:cNvPr id="27" name="Shape 24"/>
          <p:cNvSpPr/>
          <p:nvPr/>
        </p:nvSpPr>
        <p:spPr>
          <a:xfrm>
            <a:off x="6519672" y="2560320"/>
            <a:ext cx="996696" cy="914400"/>
          </a:xfrm>
          <a:prstGeom prst="roundRect">
            <a:avLst>
              <a:gd name="adj" fmla="val 6000"/>
            </a:avLst>
          </a:prstGeom>
          <a:solidFill>
            <a:srgbClr val="FCF3E4"/>
          </a:solidFill>
          <a:ln w="12700">
            <a:solidFill>
              <a:srgbClr val="FCF3E4"/>
            </a:solidFill>
            <a:prstDash val="solid"/>
          </a:ln>
        </p:spPr>
      </p:sp>
      <p:sp>
        <p:nvSpPr>
          <p:cNvPr id="28" name="Text 25"/>
          <p:cNvSpPr txBox="1"/>
          <p:nvPr/>
        </p:nvSpPr>
        <p:spPr>
          <a:xfrm>
            <a:off x="6519672" y="2560320"/>
            <a:ext cx="996696" cy="914400"/>
          </a:xfrm>
          <a:prstGeom prst="rect">
            <a:avLst/>
          </a:prstGeom>
          <a:noFill/>
          <a:ln/>
        </p:spPr>
        <p:txBody>
          <a:bodyPr wrap="square" lIns="0" tIns="0" rIns="0" bIns="0" rtlCol="0" anchor="ctr"/>
          <a:lstStyle/>
          <a:p>
            <a:pPr algn="ctr" indent="0" marL="0">
              <a:buNone/>
            </a:pPr>
            <a:r>
              <a:rPr lang="en-US" sz="1100" b="1" dirty="0">
                <a:solidFill>
                  <a:srgbClr val="3B2A1E"/>
                </a:solidFill>
                <a:latin typeface="Calibri" pitchFamily="34" charset="0"/>
                <a:ea typeface="Calibri" pitchFamily="34" charset="-122"/>
                <a:cs typeface="Calibri" pitchFamily="34" charset="-120"/>
              </a:rPr>
              <a:t>catalog</a:t>
            </a:r>
            <a:endParaRPr lang="en-US" sz="1100" dirty="0"/>
          </a:p>
          <a:p>
            <a:pPr algn="ctr" indent="0" marL="0">
              <a:buNone/>
            </a:pPr>
            <a:r>
              <a:rPr lang="en-US" sz="1100" dirty="0">
                <a:solidFill>
                  <a:srgbClr val="3B2A1E"/>
                </a:solidFill>
                <a:latin typeface="Calibri" pitchFamily="34" charset="0"/>
                <a:ea typeface="Calibri" pitchFamily="34" charset="-122"/>
                <a:cs typeface="Calibri" pitchFamily="34" charset="-120"/>
              </a:rPr>
              <a:t>:8002</a:t>
            </a:r>
            <a:endParaRPr lang="en-US" sz="1100" dirty="0"/>
          </a:p>
        </p:txBody>
      </p:sp>
      <p:sp>
        <p:nvSpPr>
          <p:cNvPr id="29" name="Shape 26"/>
          <p:cNvSpPr/>
          <p:nvPr/>
        </p:nvSpPr>
        <p:spPr>
          <a:xfrm>
            <a:off x="6702552" y="3657600"/>
            <a:ext cx="630936" cy="502920"/>
          </a:xfrm>
          <a:prstGeom prst="can">
            <a:avLst/>
          </a:prstGeom>
          <a:solidFill>
            <a:srgbClr val="FDE8CF"/>
          </a:solidFill>
          <a:ln w="9525">
            <a:solidFill>
              <a:srgbClr val="A5582C"/>
            </a:solidFill>
            <a:prstDash val="solid"/>
          </a:ln>
        </p:spPr>
      </p:sp>
      <p:sp>
        <p:nvSpPr>
          <p:cNvPr id="30" name="Text 27"/>
          <p:cNvSpPr txBox="1"/>
          <p:nvPr/>
        </p:nvSpPr>
        <p:spPr>
          <a:xfrm>
            <a:off x="6473952" y="4206240"/>
            <a:ext cx="1088136" cy="274320"/>
          </a:xfrm>
          <a:prstGeom prst="rect">
            <a:avLst/>
          </a:prstGeom>
          <a:noFill/>
          <a:ln/>
        </p:spPr>
        <p:txBody>
          <a:bodyPr wrap="square" lIns="0" tIns="0" rIns="0" bIns="0" rtlCol="0" anchor="ctr"/>
          <a:lstStyle/>
          <a:p>
            <a:pPr algn="ctr" indent="0" marL="0">
              <a:buNone/>
            </a:pPr>
            <a:r>
              <a:rPr lang="en-US" sz="900" dirty="0">
                <a:solidFill>
                  <a:srgbClr val="D9C7B0"/>
                </a:solidFill>
                <a:latin typeface="Calibri" pitchFamily="34" charset="0"/>
                <a:ea typeface="Calibri" pitchFamily="34" charset="-122"/>
                <a:cs typeface="Calibri" pitchFamily="34" charset="-120"/>
              </a:rPr>
              <a:t>catalog.db</a:t>
            </a:r>
            <a:endParaRPr lang="en-US" sz="900" dirty="0"/>
          </a:p>
        </p:txBody>
      </p:sp>
      <p:sp>
        <p:nvSpPr>
          <p:cNvPr id="31" name="Shape 28"/>
          <p:cNvSpPr/>
          <p:nvPr/>
        </p:nvSpPr>
        <p:spPr>
          <a:xfrm>
            <a:off x="7598664" y="2560320"/>
            <a:ext cx="996696" cy="914400"/>
          </a:xfrm>
          <a:prstGeom prst="roundRect">
            <a:avLst>
              <a:gd name="adj" fmla="val 6000"/>
            </a:avLst>
          </a:prstGeom>
          <a:solidFill>
            <a:srgbClr val="FCF3E4"/>
          </a:solidFill>
          <a:ln w="12700">
            <a:solidFill>
              <a:srgbClr val="FCF3E4"/>
            </a:solidFill>
            <a:prstDash val="solid"/>
          </a:ln>
        </p:spPr>
      </p:sp>
      <p:sp>
        <p:nvSpPr>
          <p:cNvPr id="32" name="Text 29"/>
          <p:cNvSpPr txBox="1"/>
          <p:nvPr/>
        </p:nvSpPr>
        <p:spPr>
          <a:xfrm>
            <a:off x="7598664" y="2560320"/>
            <a:ext cx="996696" cy="914400"/>
          </a:xfrm>
          <a:prstGeom prst="rect">
            <a:avLst/>
          </a:prstGeom>
          <a:noFill/>
          <a:ln/>
        </p:spPr>
        <p:txBody>
          <a:bodyPr wrap="square" lIns="0" tIns="0" rIns="0" bIns="0" rtlCol="0" anchor="ctr"/>
          <a:lstStyle/>
          <a:p>
            <a:pPr algn="ctr" indent="0" marL="0">
              <a:buNone/>
            </a:pPr>
            <a:r>
              <a:rPr lang="en-US" sz="1100" b="1" dirty="0">
                <a:solidFill>
                  <a:srgbClr val="3B2A1E"/>
                </a:solidFill>
                <a:latin typeface="Calibri" pitchFamily="34" charset="0"/>
                <a:ea typeface="Calibri" pitchFamily="34" charset="-122"/>
                <a:cs typeface="Calibri" pitchFamily="34" charset="-120"/>
              </a:rPr>
              <a:t>sales</a:t>
            </a:r>
            <a:endParaRPr lang="en-US" sz="1100" dirty="0"/>
          </a:p>
          <a:p>
            <a:pPr algn="ctr" indent="0" marL="0">
              <a:buNone/>
            </a:pPr>
            <a:r>
              <a:rPr lang="en-US" sz="1100" dirty="0">
                <a:solidFill>
                  <a:srgbClr val="3B2A1E"/>
                </a:solidFill>
                <a:latin typeface="Calibri" pitchFamily="34" charset="0"/>
                <a:ea typeface="Calibri" pitchFamily="34" charset="-122"/>
                <a:cs typeface="Calibri" pitchFamily="34" charset="-120"/>
              </a:rPr>
              <a:t>:8003</a:t>
            </a:r>
            <a:endParaRPr lang="en-US" sz="1100" dirty="0"/>
          </a:p>
        </p:txBody>
      </p:sp>
      <p:sp>
        <p:nvSpPr>
          <p:cNvPr id="33" name="Shape 30"/>
          <p:cNvSpPr/>
          <p:nvPr/>
        </p:nvSpPr>
        <p:spPr>
          <a:xfrm>
            <a:off x="7781544" y="3657600"/>
            <a:ext cx="630936" cy="502920"/>
          </a:xfrm>
          <a:prstGeom prst="can">
            <a:avLst/>
          </a:prstGeom>
          <a:solidFill>
            <a:srgbClr val="FDE8CF"/>
          </a:solidFill>
          <a:ln w="9525">
            <a:solidFill>
              <a:srgbClr val="A5582C"/>
            </a:solidFill>
            <a:prstDash val="solid"/>
          </a:ln>
        </p:spPr>
      </p:sp>
      <p:sp>
        <p:nvSpPr>
          <p:cNvPr id="34" name="Text 31"/>
          <p:cNvSpPr txBox="1"/>
          <p:nvPr/>
        </p:nvSpPr>
        <p:spPr>
          <a:xfrm>
            <a:off x="7552944" y="4206240"/>
            <a:ext cx="1088136" cy="274320"/>
          </a:xfrm>
          <a:prstGeom prst="rect">
            <a:avLst/>
          </a:prstGeom>
          <a:noFill/>
          <a:ln/>
        </p:spPr>
        <p:txBody>
          <a:bodyPr wrap="square" lIns="0" tIns="0" rIns="0" bIns="0" rtlCol="0" anchor="ctr"/>
          <a:lstStyle/>
          <a:p>
            <a:pPr algn="ctr" indent="0" marL="0">
              <a:buNone/>
            </a:pPr>
            <a:r>
              <a:rPr lang="en-US" sz="900" dirty="0">
                <a:solidFill>
                  <a:srgbClr val="D9C7B0"/>
                </a:solidFill>
                <a:latin typeface="Calibri" pitchFamily="34" charset="0"/>
                <a:ea typeface="Calibri" pitchFamily="34" charset="-122"/>
                <a:cs typeface="Calibri" pitchFamily="34" charset="-120"/>
              </a:rPr>
              <a:t>sales.db</a:t>
            </a:r>
            <a:endParaRPr lang="en-US" sz="900" dirty="0"/>
          </a:p>
        </p:txBody>
      </p:sp>
      <p:sp>
        <p:nvSpPr>
          <p:cNvPr id="35" name="Text 32"/>
          <p:cNvSpPr txBox="1"/>
          <p:nvPr/>
        </p:nvSpPr>
        <p:spPr>
          <a:xfrm>
            <a:off x="5486400" y="3474720"/>
            <a:ext cx="3108960" cy="201168"/>
          </a:xfrm>
          <a:prstGeom prst="rect">
            <a:avLst/>
          </a:prstGeom>
          <a:noFill/>
          <a:ln/>
        </p:spPr>
        <p:txBody>
          <a:bodyPr wrap="square" lIns="0" tIns="0" rIns="0" bIns="0" rtlCol="0" anchor="ctr"/>
          <a:lstStyle/>
          <a:p>
            <a:pPr algn="ctr" indent="0" marL="0">
              <a:buNone/>
            </a:pPr>
            <a:r>
              <a:rPr lang="en-US" sz="900" i="1" dirty="0">
                <a:solidFill>
                  <a:srgbClr val="F5B370"/>
                </a:solidFill>
                <a:latin typeface="Calibri" pitchFamily="34" charset="0"/>
                <a:ea typeface="Calibri" pitchFamily="34" charset="-122"/>
                <a:cs typeface="Calibri" pitchFamily="34" charset="-120"/>
              </a:rPr>
              <a:t>sales → catalog por REST</a:t>
            </a:r>
            <a:endParaRPr lang="en-US" sz="900" dirty="0"/>
          </a:p>
        </p:txBody>
      </p:sp>
      <p:sp>
        <p:nvSpPr>
          <p:cNvPr id="36" name="Shape 33"/>
          <p:cNvSpPr/>
          <p:nvPr/>
        </p:nvSpPr>
        <p:spPr>
          <a:xfrm flipV="1">
            <a:off x="1828800" y="1691640"/>
            <a:ext cx="548640" cy="685800"/>
          </a:xfrm>
          <a:prstGeom prst="line">
            <a:avLst/>
          </a:prstGeom>
          <a:noFill/>
          <a:ln w="19050">
            <a:solidFill>
              <a:srgbClr val="A5582C"/>
            </a:solidFill>
            <a:prstDash val="solid"/>
            <a:tailEnd type="triangle"/>
          </a:ln>
        </p:spPr>
      </p:sp>
      <p:sp>
        <p:nvSpPr>
          <p:cNvPr id="37" name="Text 34"/>
          <p:cNvSpPr txBox="1"/>
          <p:nvPr/>
        </p:nvSpPr>
        <p:spPr>
          <a:xfrm>
            <a:off x="1691640" y="1783080"/>
            <a:ext cx="1005840" cy="228600"/>
          </a:xfrm>
          <a:prstGeom prst="rect">
            <a:avLst/>
          </a:prstGeom>
          <a:noFill/>
          <a:ln/>
        </p:spPr>
        <p:txBody>
          <a:bodyPr wrap="square" lIns="0" tIns="0" rIns="0" bIns="0" rtlCol="0" anchor="ctr"/>
          <a:lstStyle/>
          <a:p>
            <a:pPr indent="0" marL="0">
              <a:buNone/>
            </a:pPr>
            <a:r>
              <a:rPr lang="en-US" sz="900" b="1" dirty="0">
                <a:solidFill>
                  <a:srgbClr val="A5582C"/>
                </a:solidFill>
                <a:latin typeface="Calibri" pitchFamily="34" charset="0"/>
                <a:ea typeface="Calibri" pitchFamily="34" charset="-122"/>
                <a:cs typeface="Calibri" pitchFamily="34" charset="-120"/>
              </a:rPr>
              <a:t>1. DNS</a:t>
            </a:r>
            <a:endParaRPr lang="en-US" sz="900" dirty="0"/>
          </a:p>
        </p:txBody>
      </p:sp>
      <p:sp>
        <p:nvSpPr>
          <p:cNvPr id="38" name="Shape 35"/>
          <p:cNvSpPr/>
          <p:nvPr/>
        </p:nvSpPr>
        <p:spPr>
          <a:xfrm>
            <a:off x="1828800" y="3017520"/>
            <a:ext cx="548640" cy="731520"/>
          </a:xfrm>
          <a:prstGeom prst="line">
            <a:avLst/>
          </a:prstGeom>
          <a:noFill/>
          <a:ln w="19050">
            <a:solidFill>
              <a:srgbClr val="A5582C"/>
            </a:solidFill>
            <a:prstDash val="solid"/>
            <a:tailEnd type="triangle"/>
          </a:ln>
        </p:spPr>
      </p:sp>
      <p:sp>
        <p:nvSpPr>
          <p:cNvPr id="39" name="Text 36"/>
          <p:cNvSpPr txBox="1"/>
          <p:nvPr/>
        </p:nvSpPr>
        <p:spPr>
          <a:xfrm>
            <a:off x="1600200" y="3566160"/>
            <a:ext cx="1005840" cy="228600"/>
          </a:xfrm>
          <a:prstGeom prst="rect">
            <a:avLst/>
          </a:prstGeom>
          <a:noFill/>
          <a:ln/>
        </p:spPr>
        <p:txBody>
          <a:bodyPr wrap="square" lIns="0" tIns="0" rIns="0" bIns="0" rtlCol="0" anchor="ctr"/>
          <a:lstStyle/>
          <a:p>
            <a:pPr indent="0" marL="0">
              <a:buNone/>
            </a:pPr>
            <a:r>
              <a:rPr lang="en-US" sz="900" b="1" dirty="0">
                <a:solidFill>
                  <a:srgbClr val="A5582C"/>
                </a:solidFill>
                <a:latin typeface="Calibri" pitchFamily="34" charset="0"/>
                <a:ea typeface="Calibri" pitchFamily="34" charset="-122"/>
                <a:cs typeface="Calibri" pitchFamily="34" charset="-120"/>
              </a:rPr>
              <a:t>2. Página</a:t>
            </a:r>
            <a:endParaRPr lang="en-US" sz="900" dirty="0"/>
          </a:p>
        </p:txBody>
      </p:sp>
      <p:sp>
        <p:nvSpPr>
          <p:cNvPr id="40" name="Shape 37"/>
          <p:cNvSpPr/>
          <p:nvPr/>
        </p:nvSpPr>
        <p:spPr>
          <a:xfrm>
            <a:off x="1828800" y="2697480"/>
            <a:ext cx="3429000" cy="0"/>
          </a:xfrm>
          <a:prstGeom prst="line">
            <a:avLst/>
          </a:prstGeom>
          <a:noFill/>
          <a:ln w="19050">
            <a:solidFill>
              <a:srgbClr val="A5582C"/>
            </a:solidFill>
            <a:prstDash val="dash"/>
            <a:tailEnd type="triangle"/>
          </a:ln>
        </p:spPr>
      </p:sp>
      <p:sp>
        <p:nvSpPr>
          <p:cNvPr id="41" name="Text 38"/>
          <p:cNvSpPr txBox="1"/>
          <p:nvPr/>
        </p:nvSpPr>
        <p:spPr>
          <a:xfrm>
            <a:off x="2743200" y="2423160"/>
            <a:ext cx="1828800" cy="228600"/>
          </a:xfrm>
          <a:prstGeom prst="rect">
            <a:avLst/>
          </a:prstGeom>
          <a:noFill/>
          <a:ln/>
        </p:spPr>
        <p:txBody>
          <a:bodyPr wrap="square" lIns="0" tIns="0" rIns="0" bIns="0" rtlCol="0" anchor="ctr"/>
          <a:lstStyle/>
          <a:p>
            <a:pPr indent="0" marL="0">
              <a:buNone/>
            </a:pPr>
            <a:r>
              <a:rPr lang="en-US" sz="900" b="1" dirty="0">
                <a:solidFill>
                  <a:srgbClr val="A5582C"/>
                </a:solidFill>
                <a:latin typeface="Calibri" pitchFamily="34" charset="0"/>
                <a:ea typeface="Calibri" pitchFamily="34" charset="-122"/>
                <a:cs typeface="Calibri" pitchFamily="34" charset="-120"/>
              </a:rPr>
              <a:t>3. REST + JSON + token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2</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Decisiones de diseño</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Por qué está construido así</a:t>
            </a:r>
            <a:endParaRPr lang="en-US" sz="1300" dirty="0"/>
          </a:p>
        </p:txBody>
      </p:sp>
      <p:sp>
        <p:nvSpPr>
          <p:cNvPr id="6" name="Shape 4"/>
          <p:cNvSpPr/>
          <p:nvPr/>
        </p:nvSpPr>
        <p:spPr>
          <a:xfrm>
            <a:off x="457200" y="1325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658368" y="1554480"/>
            <a:ext cx="530352" cy="530352"/>
          </a:xfrm>
          <a:prstGeom prst="ellipse">
            <a:avLst/>
          </a:prstGeom>
          <a:solidFill>
            <a:srgbClr val="FDE8CF"/>
          </a:solidFill>
          <a:ln w="12700">
            <a:solidFill>
              <a:srgbClr val="FDE8CF"/>
            </a:solidFill>
            <a:prstDash val="solid"/>
          </a:ln>
        </p:spPr>
      </p:sp>
      <p:pic>
        <p:nvPicPr>
          <p:cNvPr id="8" name="Image 0" descr="preencoded.png">    </p:cNvPr>
          <p:cNvPicPr>
            <a:picLocks noChangeAspect="1"/>
          </p:cNvPicPr>
          <p:nvPr/>
        </p:nvPicPr>
        <p:blipFill>
          <a:blip r:embed="rId1"/>
          <a:stretch>
            <a:fillRect/>
          </a:stretch>
        </p:blipFill>
        <p:spPr>
          <a:xfrm>
            <a:off x="790956" y="1687068"/>
            <a:ext cx="265176" cy="265176"/>
          </a:xfrm>
          <a:prstGeom prst="rect">
            <a:avLst/>
          </a:prstGeom>
        </p:spPr>
      </p:pic>
      <p:sp>
        <p:nvSpPr>
          <p:cNvPr id="9" name="Text 6"/>
          <p:cNvSpPr txBox="1"/>
          <p:nvPr/>
        </p:nvSpPr>
        <p:spPr>
          <a:xfrm>
            <a:off x="1371600" y="1453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Una base por microservicio</a:t>
            </a:r>
            <a:endParaRPr lang="en-US" sz="1400" dirty="0"/>
          </a:p>
        </p:txBody>
      </p:sp>
      <p:sp>
        <p:nvSpPr>
          <p:cNvPr id="10" name="Text 7"/>
          <p:cNvSpPr txBox="1"/>
          <p:nvPr/>
        </p:nvSpPr>
        <p:spPr>
          <a:xfrm>
            <a:off x="1371600" y="1764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Ningún servicio lee la base de otro; se piden los datos por REST</a:t>
            </a:r>
            <a:endParaRPr lang="en-US" sz="1150" dirty="0"/>
          </a:p>
        </p:txBody>
      </p:sp>
      <p:sp>
        <p:nvSpPr>
          <p:cNvPr id="11" name="Shape 8"/>
          <p:cNvSpPr/>
          <p:nvPr/>
        </p:nvSpPr>
        <p:spPr>
          <a:xfrm>
            <a:off x="4663440" y="1325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864608" y="1554480"/>
            <a:ext cx="530352" cy="530352"/>
          </a:xfrm>
          <a:prstGeom prst="ellipse">
            <a:avLst/>
          </a:prstGeom>
          <a:solidFill>
            <a:srgbClr val="FDE8CF"/>
          </a:solidFill>
          <a:ln w="12700">
            <a:solidFill>
              <a:srgbClr val="FDE8CF"/>
            </a:solidFill>
            <a:prstDash val="solid"/>
          </a:ln>
        </p:spPr>
      </p:sp>
      <p:pic>
        <p:nvPicPr>
          <p:cNvPr id="13" name="Image 1" descr="preencoded.png">    </p:cNvPr>
          <p:cNvPicPr>
            <a:picLocks noChangeAspect="1"/>
          </p:cNvPicPr>
          <p:nvPr/>
        </p:nvPicPr>
        <p:blipFill>
          <a:blip r:embed="rId2"/>
          <a:stretch>
            <a:fillRect/>
          </a:stretch>
        </p:blipFill>
        <p:spPr>
          <a:xfrm>
            <a:off x="4997196" y="1687068"/>
            <a:ext cx="265176" cy="265176"/>
          </a:xfrm>
          <a:prstGeom prst="rect">
            <a:avLst/>
          </a:prstGeom>
        </p:spPr>
      </p:pic>
      <p:sp>
        <p:nvSpPr>
          <p:cNvPr id="14" name="Text 10"/>
          <p:cNvSpPr txBox="1"/>
          <p:nvPr/>
        </p:nvSpPr>
        <p:spPr>
          <a:xfrm>
            <a:off x="5577840" y="1453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Token JWT, API sin estado</a:t>
            </a:r>
            <a:endParaRPr lang="en-US" sz="1400" dirty="0"/>
          </a:p>
        </p:txBody>
      </p:sp>
      <p:sp>
        <p:nvSpPr>
          <p:cNvPr id="15" name="Text 11"/>
          <p:cNvSpPr txBox="1"/>
          <p:nvPr/>
        </p:nvSpPr>
        <p:spPr>
          <a:xfrm>
            <a:off x="5577840" y="1764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El servidor no guarda sesiones; cada servicio verifica el token y el rol</a:t>
            </a:r>
            <a:endParaRPr lang="en-US" sz="1150" dirty="0"/>
          </a:p>
        </p:txBody>
      </p:sp>
      <p:sp>
        <p:nvSpPr>
          <p:cNvPr id="16" name="Shape 12"/>
          <p:cNvSpPr/>
          <p:nvPr/>
        </p:nvSpPr>
        <p:spPr>
          <a:xfrm>
            <a:off x="457200" y="2468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658368" y="2697480"/>
            <a:ext cx="530352" cy="530352"/>
          </a:xfrm>
          <a:prstGeom prst="ellipse">
            <a:avLst/>
          </a:prstGeom>
          <a:solidFill>
            <a:srgbClr val="FDE8CF"/>
          </a:solidFill>
          <a:ln w="12700">
            <a:solidFill>
              <a:srgbClr val="FDE8CF"/>
            </a:solidFill>
            <a:prstDash val="solid"/>
          </a:ln>
        </p:spPr>
      </p:sp>
      <p:pic>
        <p:nvPicPr>
          <p:cNvPr id="18" name="Image 2" descr="preencoded.png">    </p:cNvPr>
          <p:cNvPicPr>
            <a:picLocks noChangeAspect="1"/>
          </p:cNvPicPr>
          <p:nvPr/>
        </p:nvPicPr>
        <p:blipFill>
          <a:blip r:embed="rId3"/>
          <a:stretch>
            <a:fillRect/>
          </a:stretch>
        </p:blipFill>
        <p:spPr>
          <a:xfrm>
            <a:off x="790956" y="2830068"/>
            <a:ext cx="265176" cy="265176"/>
          </a:xfrm>
          <a:prstGeom prst="rect">
            <a:avLst/>
          </a:prstGeom>
        </p:spPr>
      </p:pic>
      <p:sp>
        <p:nvSpPr>
          <p:cNvPr id="19" name="Text 14"/>
          <p:cNvSpPr txBox="1"/>
          <p:nvPr/>
        </p:nvSpPr>
        <p:spPr>
          <a:xfrm>
            <a:off x="1371600" y="2596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Nginx como API Gateway</a:t>
            </a:r>
            <a:endParaRPr lang="en-US" sz="1400" dirty="0"/>
          </a:p>
        </p:txBody>
      </p:sp>
      <p:sp>
        <p:nvSpPr>
          <p:cNvPr id="20" name="Text 15"/>
          <p:cNvSpPr txBox="1"/>
          <p:nvPr/>
        </p:nvSpPr>
        <p:spPr>
          <a:xfrm>
            <a:off x="1371600" y="2907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El front conoce una sola dirección; los puertos internos no se exponen</a:t>
            </a:r>
            <a:endParaRPr lang="en-US" sz="1150" dirty="0"/>
          </a:p>
        </p:txBody>
      </p:sp>
      <p:sp>
        <p:nvSpPr>
          <p:cNvPr id="21" name="Shape 16"/>
          <p:cNvSpPr/>
          <p:nvPr/>
        </p:nvSpPr>
        <p:spPr>
          <a:xfrm>
            <a:off x="4663440" y="2468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4864608" y="2697480"/>
            <a:ext cx="530352" cy="530352"/>
          </a:xfrm>
          <a:prstGeom prst="ellipse">
            <a:avLst/>
          </a:prstGeom>
          <a:solidFill>
            <a:srgbClr val="FDE8CF"/>
          </a:solidFill>
          <a:ln w="12700">
            <a:solidFill>
              <a:srgbClr val="FDE8CF"/>
            </a:solidFill>
            <a:prstDash val="solid"/>
          </a:ln>
        </p:spPr>
      </p:sp>
      <p:pic>
        <p:nvPicPr>
          <p:cNvPr id="23" name="Image 3" descr="preencoded.png">    </p:cNvPr>
          <p:cNvPicPr>
            <a:picLocks noChangeAspect="1"/>
          </p:cNvPicPr>
          <p:nvPr/>
        </p:nvPicPr>
        <p:blipFill>
          <a:blip r:embed="rId4"/>
          <a:stretch>
            <a:fillRect/>
          </a:stretch>
        </p:blipFill>
        <p:spPr>
          <a:xfrm>
            <a:off x="4997196" y="2830068"/>
            <a:ext cx="265176" cy="265176"/>
          </a:xfrm>
          <a:prstGeom prst="rect">
            <a:avLst/>
          </a:prstGeom>
        </p:spPr>
      </p:pic>
      <p:sp>
        <p:nvSpPr>
          <p:cNvPr id="24" name="Text 18"/>
          <p:cNvSpPr txBox="1"/>
          <p:nvPr/>
        </p:nvSpPr>
        <p:spPr>
          <a:xfrm>
            <a:off x="5577840" y="2596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Dominio .test con DNS propio</a:t>
            </a:r>
            <a:endParaRPr lang="en-US" sz="1400" dirty="0"/>
          </a:p>
        </p:txBody>
      </p:sp>
      <p:sp>
        <p:nvSpPr>
          <p:cNvPr id="25" name="Text 19"/>
          <p:cNvSpPr txBox="1"/>
          <p:nvPr/>
        </p:nvSpPr>
        <p:spPr>
          <a:xfrm>
            <a:off x="5577840" y="2907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.test es reservado para pruebas; .local no sirve en Mac (mDNS)</a:t>
            </a:r>
            <a:endParaRPr lang="en-US" sz="1150" dirty="0"/>
          </a:p>
        </p:txBody>
      </p:sp>
      <p:sp>
        <p:nvSpPr>
          <p:cNvPr id="26" name="Shape 20"/>
          <p:cNvSpPr/>
          <p:nvPr/>
        </p:nvSpPr>
        <p:spPr>
          <a:xfrm>
            <a:off x="457200" y="3611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658368" y="3840480"/>
            <a:ext cx="530352" cy="530352"/>
          </a:xfrm>
          <a:prstGeom prst="ellipse">
            <a:avLst/>
          </a:prstGeom>
          <a:solidFill>
            <a:srgbClr val="FDE8CF"/>
          </a:solidFill>
          <a:ln w="12700">
            <a:solidFill>
              <a:srgbClr val="FDE8CF"/>
            </a:solidFill>
            <a:prstDash val="solid"/>
          </a:ln>
        </p:spPr>
      </p:sp>
      <p:pic>
        <p:nvPicPr>
          <p:cNvPr id="28" name="Image 4" descr="preencoded.png">    </p:cNvPr>
          <p:cNvPicPr>
            <a:picLocks noChangeAspect="1"/>
          </p:cNvPicPr>
          <p:nvPr/>
        </p:nvPicPr>
        <p:blipFill>
          <a:blip r:embed="rId5"/>
          <a:stretch>
            <a:fillRect/>
          </a:stretch>
        </p:blipFill>
        <p:spPr>
          <a:xfrm>
            <a:off x="790956" y="3973068"/>
            <a:ext cx="265176" cy="265176"/>
          </a:xfrm>
          <a:prstGeom prst="rect">
            <a:avLst/>
          </a:prstGeom>
        </p:spPr>
      </p:pic>
      <p:sp>
        <p:nvSpPr>
          <p:cNvPr id="29" name="Text 22"/>
          <p:cNvSpPr txBox="1"/>
          <p:nvPr/>
        </p:nvSpPr>
        <p:spPr>
          <a:xfrm>
            <a:off x="1371600" y="3739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Venta como ticket</a:t>
            </a:r>
            <a:endParaRPr lang="en-US" sz="1400" dirty="0"/>
          </a:p>
        </p:txBody>
      </p:sp>
      <p:sp>
        <p:nvSpPr>
          <p:cNvPr id="30" name="Text 23"/>
          <p:cNvSpPr txBox="1"/>
          <p:nvPr/>
        </p:nvSpPr>
        <p:spPr>
          <a:xfrm>
            <a:off x="1371600" y="4050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Encabezado + líneas con copia del precio: carrito y RN06</a:t>
            </a:r>
            <a:endParaRPr lang="en-US" sz="1150" dirty="0"/>
          </a:p>
        </p:txBody>
      </p:sp>
      <p:sp>
        <p:nvSpPr>
          <p:cNvPr id="31" name="Shape 24"/>
          <p:cNvSpPr/>
          <p:nvPr/>
        </p:nvSpPr>
        <p:spPr>
          <a:xfrm>
            <a:off x="4663440" y="3611880"/>
            <a:ext cx="4023360" cy="987552"/>
          </a:xfrm>
          <a:prstGeom prst="roundRect">
            <a:avLst>
              <a:gd name="adj" fmla="val 111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32" name="Shape 25"/>
          <p:cNvSpPr/>
          <p:nvPr/>
        </p:nvSpPr>
        <p:spPr>
          <a:xfrm>
            <a:off x="4864608" y="3840480"/>
            <a:ext cx="530352" cy="530352"/>
          </a:xfrm>
          <a:prstGeom prst="ellipse">
            <a:avLst/>
          </a:prstGeom>
          <a:solidFill>
            <a:srgbClr val="FDE8CF"/>
          </a:solidFill>
          <a:ln w="12700">
            <a:solidFill>
              <a:srgbClr val="FDE8CF"/>
            </a:solidFill>
            <a:prstDash val="solid"/>
          </a:ln>
        </p:spPr>
      </p:sp>
      <p:pic>
        <p:nvPicPr>
          <p:cNvPr id="33" name="Image 5" descr="preencoded.png">    </p:cNvPr>
          <p:cNvPicPr>
            <a:picLocks noChangeAspect="1"/>
          </p:cNvPicPr>
          <p:nvPr/>
        </p:nvPicPr>
        <p:blipFill>
          <a:blip r:embed="rId6"/>
          <a:stretch>
            <a:fillRect/>
          </a:stretch>
        </p:blipFill>
        <p:spPr>
          <a:xfrm>
            <a:off x="4997196" y="3973068"/>
            <a:ext cx="265176" cy="265176"/>
          </a:xfrm>
          <a:prstGeom prst="rect">
            <a:avLst/>
          </a:prstGeom>
        </p:spPr>
      </p:pic>
      <p:sp>
        <p:nvSpPr>
          <p:cNvPr id="34" name="Text 26"/>
          <p:cNvSpPr txBox="1"/>
          <p:nvPr/>
        </p:nvSpPr>
        <p:spPr>
          <a:xfrm>
            <a:off x="5577840" y="3739896"/>
            <a:ext cx="297180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Vagrant + Ansible local</a:t>
            </a:r>
            <a:endParaRPr lang="en-US" sz="1400" dirty="0"/>
          </a:p>
        </p:txBody>
      </p:sp>
      <p:sp>
        <p:nvSpPr>
          <p:cNvPr id="35" name="Text 27"/>
          <p:cNvSpPr txBox="1"/>
          <p:nvPr/>
        </p:nvSpPr>
        <p:spPr>
          <a:xfrm>
            <a:off x="5577840" y="4050792"/>
            <a:ext cx="2971800" cy="457200"/>
          </a:xfrm>
          <a:prstGeom prst="rect">
            <a:avLst/>
          </a:prstGeom>
          <a:noFill/>
          <a:ln/>
        </p:spPr>
        <p:txBody>
          <a:bodyPr wrap="square" lIns="0" tIns="0" rIns="0" bIns="0" rtlCol="0" anchor="t"/>
          <a:lstStyle/>
          <a:p>
            <a:pPr indent="0" marL="0">
              <a:buNone/>
            </a:pPr>
            <a:r>
              <a:rPr lang="en-US" sz="1150" dirty="0">
                <a:solidFill>
                  <a:srgbClr val="8A7563"/>
                </a:solidFill>
                <a:latin typeface="Calibri" pitchFamily="34" charset="0"/>
                <a:ea typeface="Calibri" pitchFamily="34" charset="-122"/>
                <a:cs typeface="Calibri" pitchFamily="34" charset="-120"/>
              </a:rPr>
              <a:t>La misma caja funciona en Windows (Intel) y en Mac M1</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2</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Microservicios y endpoints REST</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Sustantivos en las rutas, el método define la acción · 21 endpoints</a:t>
            </a:r>
            <a:endParaRPr lang="en-US" sz="1300" dirty="0"/>
          </a:p>
        </p:txBody>
      </p:sp>
      <p:sp>
        <p:nvSpPr>
          <p:cNvPr id="6" name="Shape 4"/>
          <p:cNvSpPr/>
          <p:nvPr/>
        </p:nvSpPr>
        <p:spPr>
          <a:xfrm>
            <a:off x="457200" y="1325880"/>
            <a:ext cx="2606040" cy="283464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40080" y="1463040"/>
            <a:ext cx="2286000" cy="320040"/>
          </a:xfrm>
          <a:prstGeom prst="rect">
            <a:avLst/>
          </a:prstGeom>
          <a:noFill/>
          <a:ln/>
        </p:spPr>
        <p:txBody>
          <a:bodyPr wrap="square" lIns="0" tIns="0" rIns="0" bIns="0" rtlCol="0" anchor="ctr"/>
          <a:lstStyle/>
          <a:p>
            <a:pPr indent="0" marL="0">
              <a:buNone/>
            </a:pPr>
            <a:r>
              <a:rPr lang="en-US" sz="1600" b="1" dirty="0">
                <a:solidFill>
                  <a:srgbClr val="A5582C"/>
                </a:solidFill>
                <a:latin typeface="Cambria" pitchFamily="34" charset="0"/>
                <a:ea typeface="Cambria" pitchFamily="34" charset="-122"/>
                <a:cs typeface="Cambria" pitchFamily="34" charset="-120"/>
              </a:rPr>
              <a:t>auth-service</a:t>
            </a:r>
            <a:endParaRPr lang="en-US" sz="1600" dirty="0"/>
          </a:p>
        </p:txBody>
      </p:sp>
      <p:sp>
        <p:nvSpPr>
          <p:cNvPr id="8" name="Text 6"/>
          <p:cNvSpPr txBox="1"/>
          <p:nvPr/>
        </p:nvSpPr>
        <p:spPr>
          <a:xfrm>
            <a:off x="640080" y="1783080"/>
            <a:ext cx="2286000" cy="256032"/>
          </a:xfrm>
          <a:prstGeom prst="rect">
            <a:avLst/>
          </a:prstGeom>
          <a:noFill/>
          <a:ln/>
        </p:spPr>
        <p:txBody>
          <a:bodyPr wrap="square" lIns="0" tIns="0" rIns="0" bIns="0" rtlCol="0" anchor="ctr"/>
          <a:lstStyle/>
          <a:p>
            <a:pPr indent="0" marL="0">
              <a:buNone/>
            </a:pPr>
            <a:r>
              <a:rPr lang="en-US" sz="1000" dirty="0">
                <a:solidFill>
                  <a:srgbClr val="8A7563"/>
                </a:solidFill>
                <a:latin typeface="Courier New" pitchFamily="34" charset="0"/>
                <a:ea typeface="Courier New" pitchFamily="34" charset="-122"/>
                <a:cs typeface="Courier New" pitchFamily="34" charset="-120"/>
              </a:rPr>
              <a:t>/api/v1/auth</a:t>
            </a:r>
            <a:endParaRPr lang="en-US" sz="1000" dirty="0"/>
          </a:p>
        </p:txBody>
      </p:sp>
      <p:sp>
        <p:nvSpPr>
          <p:cNvPr id="9" name="Text 7"/>
          <p:cNvSpPr txBox="1"/>
          <p:nvPr/>
        </p:nvSpPr>
        <p:spPr>
          <a:xfrm>
            <a:off x="640080" y="2148840"/>
            <a:ext cx="2331720" cy="1920240"/>
          </a:xfrm>
          <a:prstGeom prst="rect">
            <a:avLst/>
          </a:prstGeom>
          <a:noFill/>
          <a:ln/>
        </p:spPr>
        <p:txBody>
          <a:bodyPr wrap="square" lIns="0" tIns="0" rIns="0" bIns="0" rtlCol="0" anchor="t"/>
          <a:lstStyle/>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POST /tokens  (login)</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/users/me</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/users</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POST /users</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PATCH /users/{id}</a:t>
            </a:r>
            <a:endParaRPr lang="en-US" sz="1050" dirty="0"/>
          </a:p>
        </p:txBody>
      </p:sp>
      <p:sp>
        <p:nvSpPr>
          <p:cNvPr id="10" name="Shape 8"/>
          <p:cNvSpPr/>
          <p:nvPr/>
        </p:nvSpPr>
        <p:spPr>
          <a:xfrm>
            <a:off x="3246120" y="1325880"/>
            <a:ext cx="2606040" cy="283464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3429000" y="1463040"/>
            <a:ext cx="2286000" cy="320040"/>
          </a:xfrm>
          <a:prstGeom prst="rect">
            <a:avLst/>
          </a:prstGeom>
          <a:noFill/>
          <a:ln/>
        </p:spPr>
        <p:txBody>
          <a:bodyPr wrap="square" lIns="0" tIns="0" rIns="0" bIns="0" rtlCol="0" anchor="ctr"/>
          <a:lstStyle/>
          <a:p>
            <a:pPr indent="0" marL="0">
              <a:buNone/>
            </a:pPr>
            <a:r>
              <a:rPr lang="en-US" sz="1600" b="1" dirty="0">
                <a:solidFill>
                  <a:srgbClr val="A5582C"/>
                </a:solidFill>
                <a:latin typeface="Cambria" pitchFamily="34" charset="0"/>
                <a:ea typeface="Cambria" pitchFamily="34" charset="-122"/>
                <a:cs typeface="Cambria" pitchFamily="34" charset="-120"/>
              </a:rPr>
              <a:t>catalog-service</a:t>
            </a:r>
            <a:endParaRPr lang="en-US" sz="1600" dirty="0"/>
          </a:p>
        </p:txBody>
      </p:sp>
      <p:sp>
        <p:nvSpPr>
          <p:cNvPr id="12" name="Text 10"/>
          <p:cNvSpPr txBox="1"/>
          <p:nvPr/>
        </p:nvSpPr>
        <p:spPr>
          <a:xfrm>
            <a:off x="3429000" y="1783080"/>
            <a:ext cx="2286000" cy="256032"/>
          </a:xfrm>
          <a:prstGeom prst="rect">
            <a:avLst/>
          </a:prstGeom>
          <a:noFill/>
          <a:ln/>
        </p:spPr>
        <p:txBody>
          <a:bodyPr wrap="square" lIns="0" tIns="0" rIns="0" bIns="0" rtlCol="0" anchor="ctr"/>
          <a:lstStyle/>
          <a:p>
            <a:pPr indent="0" marL="0">
              <a:buNone/>
            </a:pPr>
            <a:r>
              <a:rPr lang="en-US" sz="1000" dirty="0">
                <a:solidFill>
                  <a:srgbClr val="8A7563"/>
                </a:solidFill>
                <a:latin typeface="Courier New" pitchFamily="34" charset="0"/>
                <a:ea typeface="Courier New" pitchFamily="34" charset="-122"/>
                <a:cs typeface="Courier New" pitchFamily="34" charset="-120"/>
              </a:rPr>
              <a:t>/api/v1/catalog</a:t>
            </a:r>
            <a:endParaRPr lang="en-US" sz="1000" dirty="0"/>
          </a:p>
        </p:txBody>
      </p:sp>
      <p:sp>
        <p:nvSpPr>
          <p:cNvPr id="13" name="Text 11"/>
          <p:cNvSpPr txBox="1"/>
          <p:nvPr/>
        </p:nvSpPr>
        <p:spPr>
          <a:xfrm>
            <a:off x="3429000" y="2148840"/>
            <a:ext cx="2331720" cy="1920240"/>
          </a:xfrm>
          <a:prstGeom prst="rect">
            <a:avLst/>
          </a:prstGeom>
          <a:noFill/>
          <a:ln/>
        </p:spPr>
        <p:txBody>
          <a:bodyPr wrap="square" lIns="0" tIns="0" rIns="0" bIns="0" rtlCol="0" anchor="t"/>
          <a:lstStyle/>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/products</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/products/{id}</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POST /products</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PUT /products/{id}</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PATCH /products/{id}</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/changes</a:t>
            </a:r>
            <a:endParaRPr lang="en-US" sz="1050" dirty="0"/>
          </a:p>
        </p:txBody>
      </p:sp>
      <p:sp>
        <p:nvSpPr>
          <p:cNvPr id="14" name="Shape 12"/>
          <p:cNvSpPr/>
          <p:nvPr/>
        </p:nvSpPr>
        <p:spPr>
          <a:xfrm>
            <a:off x="6035040" y="1325880"/>
            <a:ext cx="2606040" cy="283464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6217920" y="1463040"/>
            <a:ext cx="2286000" cy="320040"/>
          </a:xfrm>
          <a:prstGeom prst="rect">
            <a:avLst/>
          </a:prstGeom>
          <a:noFill/>
          <a:ln/>
        </p:spPr>
        <p:txBody>
          <a:bodyPr wrap="square" lIns="0" tIns="0" rIns="0" bIns="0" rtlCol="0" anchor="ctr"/>
          <a:lstStyle/>
          <a:p>
            <a:pPr indent="0" marL="0">
              <a:buNone/>
            </a:pPr>
            <a:r>
              <a:rPr lang="en-US" sz="1600" b="1" dirty="0">
                <a:solidFill>
                  <a:srgbClr val="A5582C"/>
                </a:solidFill>
                <a:latin typeface="Cambria" pitchFamily="34" charset="0"/>
                <a:ea typeface="Cambria" pitchFamily="34" charset="-122"/>
                <a:cs typeface="Cambria" pitchFamily="34" charset="-120"/>
              </a:rPr>
              <a:t>sales-service</a:t>
            </a:r>
            <a:endParaRPr lang="en-US" sz="1600" dirty="0"/>
          </a:p>
        </p:txBody>
      </p:sp>
      <p:sp>
        <p:nvSpPr>
          <p:cNvPr id="16" name="Text 14"/>
          <p:cNvSpPr txBox="1"/>
          <p:nvPr/>
        </p:nvSpPr>
        <p:spPr>
          <a:xfrm>
            <a:off x="6217920" y="1783080"/>
            <a:ext cx="2286000" cy="256032"/>
          </a:xfrm>
          <a:prstGeom prst="rect">
            <a:avLst/>
          </a:prstGeom>
          <a:noFill/>
          <a:ln/>
        </p:spPr>
        <p:txBody>
          <a:bodyPr wrap="square" lIns="0" tIns="0" rIns="0" bIns="0" rtlCol="0" anchor="ctr"/>
          <a:lstStyle/>
          <a:p>
            <a:pPr indent="0" marL="0">
              <a:buNone/>
            </a:pPr>
            <a:r>
              <a:rPr lang="en-US" sz="1000" dirty="0">
                <a:solidFill>
                  <a:srgbClr val="8A7563"/>
                </a:solidFill>
                <a:latin typeface="Courier New" pitchFamily="34" charset="0"/>
                <a:ea typeface="Courier New" pitchFamily="34" charset="-122"/>
                <a:cs typeface="Courier New" pitchFamily="34" charset="-120"/>
              </a:rPr>
              <a:t>/api/v1/sales</a:t>
            </a:r>
            <a:endParaRPr lang="en-US" sz="1000" dirty="0"/>
          </a:p>
        </p:txBody>
      </p:sp>
      <p:sp>
        <p:nvSpPr>
          <p:cNvPr id="17" name="Text 15"/>
          <p:cNvSpPr txBox="1"/>
          <p:nvPr/>
        </p:nvSpPr>
        <p:spPr>
          <a:xfrm>
            <a:off x="6217920" y="2148840"/>
            <a:ext cx="2331720" cy="1920240"/>
          </a:xfrm>
          <a:prstGeom prst="rect">
            <a:avLst/>
          </a:prstGeom>
          <a:noFill/>
          <a:ln/>
        </p:spPr>
        <p:txBody>
          <a:bodyPr wrap="square" lIns="0" tIns="0" rIns="0" bIns="0" rtlCol="0" anchor="t"/>
          <a:lstStyle/>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 POST /customers</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/customers/{id}</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POST /orders  (carrito)</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/orders · /orders/{id}</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/metrics/summary</a:t>
            </a:r>
            <a:endParaRPr lang="en-US" sz="1050" dirty="0"/>
          </a:p>
          <a:p>
            <a:pPr indent="0" marL="0">
              <a:spcAft>
                <a:spcPts val="400"/>
              </a:spcAft>
              <a:buNone/>
            </a:pPr>
            <a:r>
              <a:rPr lang="en-US" sz="1050" dirty="0">
                <a:solidFill>
                  <a:srgbClr val="3B2A1E"/>
                </a:solidFill>
                <a:latin typeface="Courier New" pitchFamily="34" charset="0"/>
                <a:ea typeface="Courier New" pitchFamily="34" charset="-122"/>
                <a:cs typeface="Courier New" pitchFamily="34" charset="-120"/>
              </a:rPr>
              <a:t>GET /metrics/… (4 más)</a:t>
            </a:r>
            <a:endParaRPr lang="en-US" sz="1050" dirty="0"/>
          </a:p>
        </p:txBody>
      </p:sp>
      <p:sp>
        <p:nvSpPr>
          <p:cNvPr id="18" name="Text 16"/>
          <p:cNvSpPr txBox="1"/>
          <p:nvPr/>
        </p:nvSpPr>
        <p:spPr>
          <a:xfrm>
            <a:off x="457200" y="4343400"/>
            <a:ext cx="8229600" cy="457200"/>
          </a:xfrm>
          <a:prstGeom prst="rect">
            <a:avLst/>
          </a:prstGeom>
          <a:noFill/>
          <a:ln/>
        </p:spPr>
        <p:txBody>
          <a:bodyPr wrap="square" lIns="0" tIns="0" rIns="0" bIns="0" rtlCol="0" anchor="ctr"/>
          <a:lstStyle/>
          <a:p>
            <a:pPr indent="0" marL="0">
              <a:buNone/>
            </a:pPr>
            <a:r>
              <a:rPr lang="en-US" sz="1100" b="1" dirty="0">
                <a:solidFill>
                  <a:srgbClr val="7A3E1D"/>
                </a:solidFill>
                <a:latin typeface="Calibri" pitchFamily="34" charset="0"/>
                <a:ea typeface="Calibri" pitchFamily="34" charset="-122"/>
                <a:cs typeface="Calibri" pitchFamily="34" charset="-120"/>
              </a:rPr>
              <a:t>Sin DELETE de productos ni usuarios (se desactivan con PATCH) · el historial solo tiene GET · códigos 200 · 201 · 400 · 401 · 403 · 404 · 409 · 422 · 503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2</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Arquitectura en 4 capas</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La misma estructura del proyecto de referencia de clase (mini_tasks_rest)</a:t>
            </a:r>
            <a:endParaRPr lang="en-US" sz="1300" dirty="0"/>
          </a:p>
        </p:txBody>
      </p:sp>
      <p:sp>
        <p:nvSpPr>
          <p:cNvPr id="6" name="Shape 4"/>
          <p:cNvSpPr/>
          <p:nvPr/>
        </p:nvSpPr>
        <p:spPr>
          <a:xfrm>
            <a:off x="457200" y="1325880"/>
            <a:ext cx="4206240" cy="685800"/>
          </a:xfrm>
          <a:prstGeom prst="roundRect">
            <a:avLst>
              <a:gd name="adj" fmla="val 10667"/>
            </a:avLst>
          </a:prstGeom>
          <a:solidFill>
            <a:srgbClr val="FCF3E4"/>
          </a:solidFill>
          <a:ln w="12700">
            <a:solidFill>
              <a:srgbClr val="EFE2CF"/>
            </a:solidFill>
            <a:prstDash val="solid"/>
          </a:ln>
        </p:spPr>
      </p:sp>
      <p:sp>
        <p:nvSpPr>
          <p:cNvPr id="7" name="Text 5"/>
          <p:cNvSpPr txBox="1"/>
          <p:nvPr/>
        </p:nvSpPr>
        <p:spPr>
          <a:xfrm>
            <a:off x="640080" y="1399032"/>
            <a:ext cx="182880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Presentación</a:t>
            </a:r>
            <a:endParaRPr lang="en-US" sz="1400" dirty="0"/>
          </a:p>
        </p:txBody>
      </p:sp>
      <p:sp>
        <p:nvSpPr>
          <p:cNvPr id="8" name="Text 6"/>
          <p:cNvSpPr txBox="1"/>
          <p:nvPr/>
        </p:nvSpPr>
        <p:spPr>
          <a:xfrm>
            <a:off x="2560320" y="1399032"/>
            <a:ext cx="1920240" cy="274320"/>
          </a:xfrm>
          <a:prstGeom prst="rect">
            <a:avLst/>
          </a:prstGeom>
          <a:noFill/>
          <a:ln/>
        </p:spPr>
        <p:txBody>
          <a:bodyPr wrap="square" lIns="0" tIns="0" rIns="0" bIns="0" rtlCol="0" anchor="ctr"/>
          <a:lstStyle/>
          <a:p>
            <a:pPr algn="r" indent="0" marL="0">
              <a:buNone/>
            </a:pPr>
            <a:r>
              <a:rPr lang="en-US" sz="1100" dirty="0">
                <a:solidFill>
                  <a:srgbClr val="8A7563"/>
                </a:solidFill>
                <a:latin typeface="Courier New" pitchFamily="34" charset="0"/>
                <a:ea typeface="Courier New" pitchFamily="34" charset="-122"/>
                <a:cs typeface="Courier New" pitchFamily="34" charset="-120"/>
              </a:rPr>
              <a:t>api/</a:t>
            </a:r>
            <a:endParaRPr lang="en-US" sz="1100" dirty="0"/>
          </a:p>
        </p:txBody>
      </p:sp>
      <p:sp>
        <p:nvSpPr>
          <p:cNvPr id="9" name="Text 7"/>
          <p:cNvSpPr txBox="1"/>
          <p:nvPr/>
        </p:nvSpPr>
        <p:spPr>
          <a:xfrm>
            <a:off x="640080" y="1691640"/>
            <a:ext cx="3840480" cy="274320"/>
          </a:xfrm>
          <a:prstGeom prst="rect">
            <a:avLst/>
          </a:prstGeom>
          <a:noFill/>
          <a:ln/>
        </p:spPr>
        <p:txBody>
          <a:bodyPr wrap="square" lIns="0" tIns="0" rIns="0" bIns="0" rtlCol="0" anchor="ctr"/>
          <a:lstStyle/>
          <a:p>
            <a:pPr indent="0" marL="0">
              <a:buNone/>
            </a:pPr>
            <a:r>
              <a:rPr lang="en-US" sz="1150" dirty="0">
                <a:solidFill>
                  <a:srgbClr val="8A7563"/>
                </a:solidFill>
                <a:latin typeface="Calibri" pitchFamily="34" charset="0"/>
                <a:ea typeface="Calibri" pitchFamily="34" charset="-122"/>
                <a:cs typeface="Calibri" pitchFamily="34" charset="-120"/>
              </a:rPr>
              <a:t>Rutas HTTP, token y rol, errores → códigos</a:t>
            </a:r>
            <a:endParaRPr lang="en-US" sz="1150" dirty="0"/>
          </a:p>
        </p:txBody>
      </p:sp>
      <p:sp>
        <p:nvSpPr>
          <p:cNvPr id="10" name="Shape 8"/>
          <p:cNvSpPr/>
          <p:nvPr/>
        </p:nvSpPr>
        <p:spPr>
          <a:xfrm>
            <a:off x="457200" y="2148840"/>
            <a:ext cx="4206240" cy="685800"/>
          </a:xfrm>
          <a:prstGeom prst="roundRect">
            <a:avLst>
              <a:gd name="adj" fmla="val 10667"/>
            </a:avLst>
          </a:prstGeom>
          <a:solidFill>
            <a:srgbClr val="FCF3E4"/>
          </a:solidFill>
          <a:ln w="12700">
            <a:solidFill>
              <a:srgbClr val="EFE2CF"/>
            </a:solidFill>
            <a:prstDash val="solid"/>
          </a:ln>
        </p:spPr>
      </p:sp>
      <p:sp>
        <p:nvSpPr>
          <p:cNvPr id="11" name="Text 9"/>
          <p:cNvSpPr txBox="1"/>
          <p:nvPr/>
        </p:nvSpPr>
        <p:spPr>
          <a:xfrm>
            <a:off x="640080" y="2221992"/>
            <a:ext cx="182880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Aplicación</a:t>
            </a:r>
            <a:endParaRPr lang="en-US" sz="1400" dirty="0"/>
          </a:p>
        </p:txBody>
      </p:sp>
      <p:sp>
        <p:nvSpPr>
          <p:cNvPr id="12" name="Text 10"/>
          <p:cNvSpPr txBox="1"/>
          <p:nvPr/>
        </p:nvSpPr>
        <p:spPr>
          <a:xfrm>
            <a:off x="2560320" y="2221992"/>
            <a:ext cx="1920240" cy="274320"/>
          </a:xfrm>
          <a:prstGeom prst="rect">
            <a:avLst/>
          </a:prstGeom>
          <a:noFill/>
          <a:ln/>
        </p:spPr>
        <p:txBody>
          <a:bodyPr wrap="square" lIns="0" tIns="0" rIns="0" bIns="0" rtlCol="0" anchor="ctr"/>
          <a:lstStyle/>
          <a:p>
            <a:pPr algn="r" indent="0" marL="0">
              <a:buNone/>
            </a:pPr>
            <a:r>
              <a:rPr lang="en-US" sz="1100" dirty="0">
                <a:solidFill>
                  <a:srgbClr val="8A7563"/>
                </a:solidFill>
                <a:latin typeface="Courier New" pitchFamily="34" charset="0"/>
                <a:ea typeface="Courier New" pitchFamily="34" charset="-122"/>
                <a:cs typeface="Courier New" pitchFamily="34" charset="-120"/>
              </a:rPr>
              <a:t>application/</a:t>
            </a:r>
            <a:endParaRPr lang="en-US" sz="1100" dirty="0"/>
          </a:p>
        </p:txBody>
      </p:sp>
      <p:sp>
        <p:nvSpPr>
          <p:cNvPr id="13" name="Text 11"/>
          <p:cNvSpPr txBox="1"/>
          <p:nvPr/>
        </p:nvSpPr>
        <p:spPr>
          <a:xfrm>
            <a:off x="640080" y="2514600"/>
            <a:ext cx="3840480" cy="274320"/>
          </a:xfrm>
          <a:prstGeom prst="rect">
            <a:avLst/>
          </a:prstGeom>
          <a:noFill/>
          <a:ln/>
        </p:spPr>
        <p:txBody>
          <a:bodyPr wrap="square" lIns="0" tIns="0" rIns="0" bIns="0" rtlCol="0" anchor="ctr"/>
          <a:lstStyle/>
          <a:p>
            <a:pPr indent="0" marL="0">
              <a:buNone/>
            </a:pPr>
            <a:r>
              <a:rPr lang="en-US" sz="1150" dirty="0">
                <a:solidFill>
                  <a:srgbClr val="8A7563"/>
                </a:solidFill>
                <a:latin typeface="Calibri" pitchFamily="34" charset="0"/>
                <a:ea typeface="Calibri" pitchFamily="34" charset="-122"/>
                <a:cs typeface="Calibri" pitchFamily="34" charset="-120"/>
              </a:rPr>
              <a:t>DTOs de entrada y salida (Pydantic)</a:t>
            </a:r>
            <a:endParaRPr lang="en-US" sz="1150" dirty="0"/>
          </a:p>
        </p:txBody>
      </p:sp>
      <p:sp>
        <p:nvSpPr>
          <p:cNvPr id="14" name="Shape 12"/>
          <p:cNvSpPr/>
          <p:nvPr/>
        </p:nvSpPr>
        <p:spPr>
          <a:xfrm>
            <a:off x="457200" y="2971800"/>
            <a:ext cx="4206240" cy="685800"/>
          </a:xfrm>
          <a:prstGeom prst="roundRect">
            <a:avLst>
              <a:gd name="adj" fmla="val 10667"/>
            </a:avLst>
          </a:prstGeom>
          <a:solidFill>
            <a:srgbClr val="A5582C"/>
          </a:solidFill>
          <a:ln w="12700">
            <a:solidFill>
              <a:srgbClr val="A5582C"/>
            </a:solidFill>
            <a:prstDash val="solid"/>
          </a:ln>
        </p:spPr>
      </p:sp>
      <p:sp>
        <p:nvSpPr>
          <p:cNvPr id="15" name="Text 13"/>
          <p:cNvSpPr txBox="1"/>
          <p:nvPr/>
        </p:nvSpPr>
        <p:spPr>
          <a:xfrm>
            <a:off x="640080" y="3044952"/>
            <a:ext cx="1828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Dominio</a:t>
            </a:r>
            <a:endParaRPr lang="en-US" sz="1400" dirty="0"/>
          </a:p>
        </p:txBody>
      </p:sp>
      <p:sp>
        <p:nvSpPr>
          <p:cNvPr id="16" name="Text 14"/>
          <p:cNvSpPr txBox="1"/>
          <p:nvPr/>
        </p:nvSpPr>
        <p:spPr>
          <a:xfrm>
            <a:off x="2560320" y="3044952"/>
            <a:ext cx="1920240" cy="274320"/>
          </a:xfrm>
          <a:prstGeom prst="rect">
            <a:avLst/>
          </a:prstGeom>
          <a:noFill/>
          <a:ln/>
        </p:spPr>
        <p:txBody>
          <a:bodyPr wrap="square" lIns="0" tIns="0" rIns="0" bIns="0" rtlCol="0" anchor="ctr"/>
          <a:lstStyle/>
          <a:p>
            <a:pPr algn="r" indent="0" marL="0">
              <a:buNone/>
            </a:pPr>
            <a:r>
              <a:rPr lang="en-US" sz="1100" dirty="0">
                <a:solidFill>
                  <a:srgbClr val="FDE8CF"/>
                </a:solidFill>
                <a:latin typeface="Courier New" pitchFamily="34" charset="0"/>
                <a:ea typeface="Courier New" pitchFamily="34" charset="-122"/>
                <a:cs typeface="Courier New" pitchFamily="34" charset="-120"/>
              </a:rPr>
              <a:t>domain/</a:t>
            </a:r>
            <a:endParaRPr lang="en-US" sz="1100" dirty="0"/>
          </a:p>
        </p:txBody>
      </p:sp>
      <p:sp>
        <p:nvSpPr>
          <p:cNvPr id="17" name="Text 15"/>
          <p:cNvSpPr txBox="1"/>
          <p:nvPr/>
        </p:nvSpPr>
        <p:spPr>
          <a:xfrm>
            <a:off x="640080" y="3337560"/>
            <a:ext cx="3840480" cy="274320"/>
          </a:xfrm>
          <a:prstGeom prst="rect">
            <a:avLst/>
          </a:prstGeom>
          <a:noFill/>
          <a:ln/>
        </p:spPr>
        <p:txBody>
          <a:bodyPr wrap="square" lIns="0" tIns="0" rIns="0" bIns="0" rtlCol="0" anchor="ctr"/>
          <a:lstStyle/>
          <a:p>
            <a:pPr indent="0" marL="0">
              <a:buNone/>
            </a:pPr>
            <a:r>
              <a:rPr lang="en-US" sz="1150" dirty="0">
                <a:solidFill>
                  <a:srgbClr val="FDE8CF"/>
                </a:solidFill>
                <a:latin typeface="Calibri" pitchFamily="34" charset="0"/>
                <a:ea typeface="Calibri" pitchFamily="34" charset="-122"/>
                <a:cs typeface="Calibri" pitchFamily="34" charset="-120"/>
              </a:rPr>
              <a:t>Modelos, contratos (ABC) y reglas de negocio</a:t>
            </a:r>
            <a:endParaRPr lang="en-US" sz="1150" dirty="0"/>
          </a:p>
        </p:txBody>
      </p:sp>
      <p:sp>
        <p:nvSpPr>
          <p:cNvPr id="18" name="Shape 16"/>
          <p:cNvSpPr/>
          <p:nvPr/>
        </p:nvSpPr>
        <p:spPr>
          <a:xfrm>
            <a:off x="457200" y="3794760"/>
            <a:ext cx="4206240" cy="685800"/>
          </a:xfrm>
          <a:prstGeom prst="roundRect">
            <a:avLst>
              <a:gd name="adj" fmla="val 10667"/>
            </a:avLst>
          </a:prstGeom>
          <a:solidFill>
            <a:srgbClr val="FCF3E4"/>
          </a:solidFill>
          <a:ln w="12700">
            <a:solidFill>
              <a:srgbClr val="EFE2CF"/>
            </a:solidFill>
            <a:prstDash val="solid"/>
          </a:ln>
        </p:spPr>
      </p:sp>
      <p:sp>
        <p:nvSpPr>
          <p:cNvPr id="19" name="Text 17"/>
          <p:cNvSpPr txBox="1"/>
          <p:nvPr/>
        </p:nvSpPr>
        <p:spPr>
          <a:xfrm>
            <a:off x="640080" y="3867912"/>
            <a:ext cx="1828800" cy="27432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Infraestructura</a:t>
            </a:r>
            <a:endParaRPr lang="en-US" sz="1400" dirty="0"/>
          </a:p>
        </p:txBody>
      </p:sp>
      <p:sp>
        <p:nvSpPr>
          <p:cNvPr id="20" name="Text 18"/>
          <p:cNvSpPr txBox="1"/>
          <p:nvPr/>
        </p:nvSpPr>
        <p:spPr>
          <a:xfrm>
            <a:off x="2560320" y="3867912"/>
            <a:ext cx="1920240" cy="274320"/>
          </a:xfrm>
          <a:prstGeom prst="rect">
            <a:avLst/>
          </a:prstGeom>
          <a:noFill/>
          <a:ln/>
        </p:spPr>
        <p:txBody>
          <a:bodyPr wrap="square" lIns="0" tIns="0" rIns="0" bIns="0" rtlCol="0" anchor="ctr"/>
          <a:lstStyle/>
          <a:p>
            <a:pPr algn="r" indent="0" marL="0">
              <a:buNone/>
            </a:pPr>
            <a:r>
              <a:rPr lang="en-US" sz="1100" dirty="0">
                <a:solidFill>
                  <a:srgbClr val="8A7563"/>
                </a:solidFill>
                <a:latin typeface="Courier New" pitchFamily="34" charset="0"/>
                <a:ea typeface="Courier New" pitchFamily="34" charset="-122"/>
                <a:cs typeface="Courier New" pitchFamily="34" charset="-120"/>
              </a:rPr>
              <a:t>infrastructure/</a:t>
            </a:r>
            <a:endParaRPr lang="en-US" sz="1100" dirty="0"/>
          </a:p>
        </p:txBody>
      </p:sp>
      <p:sp>
        <p:nvSpPr>
          <p:cNvPr id="21" name="Text 19"/>
          <p:cNvSpPr txBox="1"/>
          <p:nvPr/>
        </p:nvSpPr>
        <p:spPr>
          <a:xfrm>
            <a:off x="640080" y="4160520"/>
            <a:ext cx="3840480" cy="274320"/>
          </a:xfrm>
          <a:prstGeom prst="rect">
            <a:avLst/>
          </a:prstGeom>
          <a:noFill/>
          <a:ln/>
        </p:spPr>
        <p:txBody>
          <a:bodyPr wrap="square" lIns="0" tIns="0" rIns="0" bIns="0" rtlCol="0" anchor="ctr"/>
          <a:lstStyle/>
          <a:p>
            <a:pPr indent="0" marL="0">
              <a:buNone/>
            </a:pPr>
            <a:r>
              <a:rPr lang="en-US" sz="1150" dirty="0">
                <a:solidFill>
                  <a:srgbClr val="8A7563"/>
                </a:solidFill>
                <a:latin typeface="Calibri" pitchFamily="34" charset="0"/>
                <a:ea typeface="Calibri" pitchFamily="34" charset="-122"/>
                <a:cs typeface="Calibri" pitchFamily="34" charset="-120"/>
              </a:rPr>
              <a:t>SQLite + SQLAlchemy, carga del dataset, cliente HTTP</a:t>
            </a:r>
            <a:endParaRPr lang="en-US" sz="1150" dirty="0"/>
          </a:p>
        </p:txBody>
      </p:sp>
      <p:sp>
        <p:nvSpPr>
          <p:cNvPr id="22" name="Shape 20"/>
          <p:cNvSpPr/>
          <p:nvPr/>
        </p:nvSpPr>
        <p:spPr>
          <a:xfrm>
            <a:off x="5029200" y="1325880"/>
            <a:ext cx="3657600" cy="3154680"/>
          </a:xfrm>
          <a:prstGeom prst="roundRect">
            <a:avLst>
              <a:gd name="adj" fmla="val 3478"/>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5257800" y="1463040"/>
            <a:ext cx="3291840" cy="320040"/>
          </a:xfrm>
          <a:prstGeom prst="rect">
            <a:avLst/>
          </a:prstGeom>
          <a:noFill/>
          <a:ln/>
        </p:spPr>
        <p:txBody>
          <a:bodyPr wrap="square" lIns="0" tIns="0" rIns="0" bIns="0" rtlCol="0" anchor="ctr"/>
          <a:lstStyle/>
          <a:p>
            <a:pPr indent="0" marL="0">
              <a:buNone/>
            </a:pPr>
            <a:r>
              <a:rPr lang="en-US" sz="1600" b="1" dirty="0">
                <a:solidFill>
                  <a:srgbClr val="3B2A1E"/>
                </a:solidFill>
                <a:latin typeface="Cambria" pitchFamily="34" charset="0"/>
                <a:ea typeface="Cambria" pitchFamily="34" charset="-122"/>
                <a:cs typeface="Cambria" pitchFamily="34" charset="-120"/>
              </a:rPr>
              <a:t>Inversión de dependencias</a:t>
            </a:r>
            <a:endParaRPr lang="en-US" sz="1600" dirty="0"/>
          </a:p>
        </p:txBody>
      </p:sp>
      <p:sp>
        <p:nvSpPr>
          <p:cNvPr id="24" name="Text 22"/>
          <p:cNvSpPr txBox="1"/>
          <p:nvPr/>
        </p:nvSpPr>
        <p:spPr>
          <a:xfrm>
            <a:off x="5257800" y="1874520"/>
            <a:ext cx="3246120" cy="2468880"/>
          </a:xfrm>
          <a:prstGeom prst="rect">
            <a:avLst/>
          </a:prstGeom>
          <a:noFill/>
          <a:ln/>
        </p:spPr>
        <p:txBody>
          <a:bodyPr wrap="square" lIns="0" tIns="0" rIns="0" bIns="0" rtlCol="0" anchor="t"/>
          <a:lstStyle/>
          <a:p>
            <a:pPr indent="0" marL="0">
              <a:buNone/>
            </a:pPr>
            <a:r>
              <a:rPr lang="en-US" sz="1250" dirty="0">
                <a:solidFill>
                  <a:srgbClr val="3B2A1E"/>
                </a:solidFill>
                <a:latin typeface="Calibri" pitchFamily="34" charset="0"/>
                <a:ea typeface="Calibri" pitchFamily="34" charset="-122"/>
                <a:cs typeface="Calibri" pitchFamily="34" charset="-120"/>
              </a:rPr>
              <a:t>OrderService (dominio) necesita los productos, pero solo conoce el contrato </a:t>
            </a:r>
            <a:pPr indent="0" marL="0">
              <a:buNone/>
            </a:pPr>
            <a:r>
              <a:rPr lang="en-US" sz="1250" b="1" dirty="0">
                <a:solidFill>
                  <a:srgbClr val="3B2A1E"/>
                </a:solidFill>
                <a:latin typeface="Courier New" pitchFamily="34" charset="0"/>
                <a:ea typeface="Courier New" pitchFamily="34" charset="-122"/>
                <a:cs typeface="Courier New" pitchFamily="34" charset="-120"/>
              </a:rPr>
              <a:t>ProductCatalog</a:t>
            </a:r>
            <a:pPr indent="0" marL="0">
              <a:buNone/>
            </a:pPr>
            <a:r>
              <a:rPr lang="en-US" sz="1250" dirty="0">
                <a:solidFill>
                  <a:srgbClr val="3B2A1E"/>
                </a:solidFill>
                <a:latin typeface="Calibri" pitchFamily="34" charset="0"/>
                <a:ea typeface="Calibri" pitchFamily="34" charset="-122"/>
                <a:cs typeface="Calibri" pitchFamily="34" charset="-120"/>
              </a:rPr>
              <a:t>.</a:t>
            </a:r>
            <a:endParaRPr lang="en-US" sz="1250" dirty="0"/>
          </a:p>
          <a:p>
            <a:pPr indent="0" marL="0">
              <a:buNone/>
            </a:pPr>
            <a:r>
              <a:rPr lang="en-US" sz="1250" dirty="0">
                <a:solidFill>
                  <a:srgbClr val="3B2A1E"/>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3B2A1E"/>
                </a:solidFill>
                <a:latin typeface="Courier New" pitchFamily="34" charset="0"/>
                <a:ea typeface="Courier New" pitchFamily="34" charset="-122"/>
                <a:cs typeface="Courier New" pitchFamily="34" charset="-120"/>
              </a:rPr>
              <a:t>HttpProductCatalog</a:t>
            </a:r>
            <a:pPr indent="0" marL="0">
              <a:buNone/>
            </a:pPr>
            <a:r>
              <a:rPr lang="en-US" sz="1250" dirty="0">
                <a:solidFill>
                  <a:srgbClr val="3B2A1E"/>
                </a:solidFill>
                <a:latin typeface="Calibri" pitchFamily="34" charset="0"/>
                <a:ea typeface="Calibri" pitchFamily="34" charset="-122"/>
                <a:cs typeface="Calibri" pitchFamily="34" charset="-120"/>
              </a:rPr>
              <a:t> lo implementa pidiendo los datos a catalog-service por REST.</a:t>
            </a:r>
            <a:endParaRPr lang="en-US" sz="1250" dirty="0"/>
          </a:p>
          <a:p>
            <a:pPr indent="0" marL="0">
              <a:buNone/>
            </a:pPr>
            <a:r>
              <a:rPr lang="en-US" sz="1250" dirty="0">
                <a:solidFill>
                  <a:srgbClr val="3B2A1E"/>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7A3E1D"/>
                </a:solidFill>
                <a:latin typeface="Calibri" pitchFamily="34" charset="0"/>
                <a:ea typeface="Calibri" pitchFamily="34" charset="-122"/>
                <a:cs typeface="Calibri" pitchFamily="34" charset="-120"/>
              </a:rPr>
              <a:t>En las pruebas se reemplaza por un catálogo falso: igual que TaskRepository / SQLAlchemyTaskRepository en clase.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2</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Modelo de datos</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Cada microservicio es dueño de sus datos · sin llaves foráneas entre bases</a:t>
            </a:r>
            <a:endParaRPr lang="en-US" sz="1300" dirty="0"/>
          </a:p>
        </p:txBody>
      </p:sp>
      <p:sp>
        <p:nvSpPr>
          <p:cNvPr id="6" name="Shape 4"/>
          <p:cNvSpPr/>
          <p:nvPr/>
        </p:nvSpPr>
        <p:spPr>
          <a:xfrm>
            <a:off x="457200" y="1325880"/>
            <a:ext cx="2606040" cy="342900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640080" y="1463040"/>
            <a:ext cx="457200" cy="457200"/>
          </a:xfrm>
          <a:prstGeom prst="ellipse">
            <a:avLst/>
          </a:prstGeom>
          <a:solidFill>
            <a:srgbClr val="FDE8CF"/>
          </a:solidFill>
          <a:ln w="12700">
            <a:solidFill>
              <a:srgbClr val="FDE8CF"/>
            </a:solidFill>
            <a:prstDash val="solid"/>
          </a:ln>
        </p:spPr>
      </p:sp>
      <p:pic>
        <p:nvPicPr>
          <p:cNvPr id="8" name="Image 0" descr="preencoded.png">    </p:cNvPr>
          <p:cNvPicPr>
            <a:picLocks noChangeAspect="1"/>
          </p:cNvPicPr>
          <p:nvPr/>
        </p:nvPicPr>
        <p:blipFill>
          <a:blip r:embed="rId1"/>
          <a:stretch>
            <a:fillRect/>
          </a:stretch>
        </p:blipFill>
        <p:spPr>
          <a:xfrm>
            <a:off x="754380" y="1577340"/>
            <a:ext cx="228600" cy="228600"/>
          </a:xfrm>
          <a:prstGeom prst="rect">
            <a:avLst/>
          </a:prstGeom>
        </p:spPr>
      </p:pic>
      <p:sp>
        <p:nvSpPr>
          <p:cNvPr id="9" name="Text 6"/>
          <p:cNvSpPr txBox="1"/>
          <p:nvPr/>
        </p:nvSpPr>
        <p:spPr>
          <a:xfrm>
            <a:off x="1188720" y="1508760"/>
            <a:ext cx="1737360" cy="365760"/>
          </a:xfrm>
          <a:prstGeom prst="rect">
            <a:avLst/>
          </a:prstGeom>
          <a:noFill/>
          <a:ln/>
        </p:spPr>
        <p:txBody>
          <a:bodyPr wrap="square" lIns="0" tIns="0" rIns="0" bIns="0" rtlCol="0" anchor="ctr"/>
          <a:lstStyle/>
          <a:p>
            <a:pPr indent="0" marL="0">
              <a:buNone/>
            </a:pPr>
            <a:r>
              <a:rPr lang="en-US" sz="1600" b="1" dirty="0">
                <a:solidFill>
                  <a:srgbClr val="3B2A1E"/>
                </a:solidFill>
                <a:latin typeface="Cambria" pitchFamily="34" charset="0"/>
                <a:ea typeface="Cambria" pitchFamily="34" charset="-122"/>
                <a:cs typeface="Cambria" pitchFamily="34" charset="-120"/>
              </a:rPr>
              <a:t>auth.db</a:t>
            </a:r>
            <a:endParaRPr lang="en-US" sz="1600" dirty="0"/>
          </a:p>
        </p:txBody>
      </p:sp>
      <p:sp>
        <p:nvSpPr>
          <p:cNvPr id="10" name="Shape 7"/>
          <p:cNvSpPr/>
          <p:nvPr/>
        </p:nvSpPr>
        <p:spPr>
          <a:xfrm>
            <a:off x="594360" y="2103120"/>
            <a:ext cx="2331720" cy="749808"/>
          </a:xfrm>
          <a:prstGeom prst="roundRect">
            <a:avLst>
              <a:gd name="adj" fmla="val 7317"/>
            </a:avLst>
          </a:prstGeom>
          <a:solidFill>
            <a:srgbClr val="FCF3E4"/>
          </a:solidFill>
          <a:ln w="12700">
            <a:solidFill>
              <a:srgbClr val="FCF3E4"/>
            </a:solidFill>
            <a:prstDash val="solid"/>
          </a:ln>
        </p:spPr>
      </p:sp>
      <p:sp>
        <p:nvSpPr>
          <p:cNvPr id="11" name="Text 8"/>
          <p:cNvSpPr txBox="1"/>
          <p:nvPr/>
        </p:nvSpPr>
        <p:spPr>
          <a:xfrm>
            <a:off x="713232" y="214884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usuarios</a:t>
            </a:r>
            <a:endParaRPr lang="en-US" sz="1100" dirty="0"/>
          </a:p>
        </p:txBody>
      </p:sp>
      <p:sp>
        <p:nvSpPr>
          <p:cNvPr id="12" name="Text 9"/>
          <p:cNvSpPr txBox="1"/>
          <p:nvPr/>
        </p:nvSpPr>
        <p:spPr>
          <a:xfrm>
            <a:off x="713232" y="239572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id · nombre · usuario (único) · password_hash · rol · activo</a:t>
            </a:r>
            <a:endParaRPr lang="en-US" sz="950" dirty="0"/>
          </a:p>
        </p:txBody>
      </p:sp>
      <p:sp>
        <p:nvSpPr>
          <p:cNvPr id="13" name="Shape 10"/>
          <p:cNvSpPr/>
          <p:nvPr/>
        </p:nvSpPr>
        <p:spPr>
          <a:xfrm>
            <a:off x="3246120" y="1325880"/>
            <a:ext cx="2606040" cy="342900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3429000" y="1463040"/>
            <a:ext cx="457200" cy="457200"/>
          </a:xfrm>
          <a:prstGeom prst="ellipse">
            <a:avLst/>
          </a:prstGeom>
          <a:solidFill>
            <a:srgbClr val="FDE8CF"/>
          </a:solidFill>
          <a:ln w="12700">
            <a:solidFill>
              <a:srgbClr val="FDE8CF"/>
            </a:solidFill>
            <a:prstDash val="solid"/>
          </a:ln>
        </p:spPr>
      </p:sp>
      <p:pic>
        <p:nvPicPr>
          <p:cNvPr id="15" name="Image 1" descr="preencoded.png">    </p:cNvPr>
          <p:cNvPicPr>
            <a:picLocks noChangeAspect="1"/>
          </p:cNvPicPr>
          <p:nvPr/>
        </p:nvPicPr>
        <p:blipFill>
          <a:blip r:embed="rId2"/>
          <a:stretch>
            <a:fillRect/>
          </a:stretch>
        </p:blipFill>
        <p:spPr>
          <a:xfrm>
            <a:off x="3543300" y="1577340"/>
            <a:ext cx="228600" cy="228600"/>
          </a:xfrm>
          <a:prstGeom prst="rect">
            <a:avLst/>
          </a:prstGeom>
        </p:spPr>
      </p:pic>
      <p:sp>
        <p:nvSpPr>
          <p:cNvPr id="16" name="Text 12"/>
          <p:cNvSpPr txBox="1"/>
          <p:nvPr/>
        </p:nvSpPr>
        <p:spPr>
          <a:xfrm>
            <a:off x="3977640" y="1508760"/>
            <a:ext cx="1737360" cy="365760"/>
          </a:xfrm>
          <a:prstGeom prst="rect">
            <a:avLst/>
          </a:prstGeom>
          <a:noFill/>
          <a:ln/>
        </p:spPr>
        <p:txBody>
          <a:bodyPr wrap="square" lIns="0" tIns="0" rIns="0" bIns="0" rtlCol="0" anchor="ctr"/>
          <a:lstStyle/>
          <a:p>
            <a:pPr indent="0" marL="0">
              <a:buNone/>
            </a:pPr>
            <a:r>
              <a:rPr lang="en-US" sz="1600" b="1" dirty="0">
                <a:solidFill>
                  <a:srgbClr val="3B2A1E"/>
                </a:solidFill>
                <a:latin typeface="Cambria" pitchFamily="34" charset="0"/>
                <a:ea typeface="Cambria" pitchFamily="34" charset="-122"/>
                <a:cs typeface="Cambria" pitchFamily="34" charset="-120"/>
              </a:rPr>
              <a:t>catalog.db</a:t>
            </a:r>
            <a:endParaRPr lang="en-US" sz="1600" dirty="0"/>
          </a:p>
        </p:txBody>
      </p:sp>
      <p:sp>
        <p:nvSpPr>
          <p:cNvPr id="17" name="Shape 13"/>
          <p:cNvSpPr/>
          <p:nvPr/>
        </p:nvSpPr>
        <p:spPr>
          <a:xfrm>
            <a:off x="3383280" y="2103120"/>
            <a:ext cx="2331720" cy="749808"/>
          </a:xfrm>
          <a:prstGeom prst="roundRect">
            <a:avLst>
              <a:gd name="adj" fmla="val 7317"/>
            </a:avLst>
          </a:prstGeom>
          <a:solidFill>
            <a:srgbClr val="FCF3E4"/>
          </a:solidFill>
          <a:ln w="12700">
            <a:solidFill>
              <a:srgbClr val="FCF3E4"/>
            </a:solidFill>
            <a:prstDash val="solid"/>
          </a:ln>
        </p:spPr>
      </p:sp>
      <p:sp>
        <p:nvSpPr>
          <p:cNvPr id="18" name="Text 14"/>
          <p:cNvSpPr txBox="1"/>
          <p:nvPr/>
        </p:nvSpPr>
        <p:spPr>
          <a:xfrm>
            <a:off x="3502152" y="214884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productos</a:t>
            </a:r>
            <a:endParaRPr lang="en-US" sz="1100" dirty="0"/>
          </a:p>
        </p:txBody>
      </p:sp>
      <p:sp>
        <p:nvSpPr>
          <p:cNvPr id="19" name="Text 15"/>
          <p:cNvSpPr txBox="1"/>
          <p:nvPr/>
        </p:nvSpPr>
        <p:spPr>
          <a:xfrm>
            <a:off x="3502152" y="239572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id · nombre (único) · precio · tipo_venta · activo</a:t>
            </a:r>
            <a:endParaRPr lang="en-US" sz="950" dirty="0"/>
          </a:p>
        </p:txBody>
      </p:sp>
      <p:sp>
        <p:nvSpPr>
          <p:cNvPr id="20" name="Shape 16"/>
          <p:cNvSpPr/>
          <p:nvPr/>
        </p:nvSpPr>
        <p:spPr>
          <a:xfrm>
            <a:off x="3383280" y="2971800"/>
            <a:ext cx="2331720" cy="749808"/>
          </a:xfrm>
          <a:prstGeom prst="roundRect">
            <a:avLst>
              <a:gd name="adj" fmla="val 7317"/>
            </a:avLst>
          </a:prstGeom>
          <a:solidFill>
            <a:srgbClr val="FCF3E4"/>
          </a:solidFill>
          <a:ln w="12700">
            <a:solidFill>
              <a:srgbClr val="FCF3E4"/>
            </a:solidFill>
            <a:prstDash val="solid"/>
          </a:ln>
        </p:spPr>
      </p:sp>
      <p:sp>
        <p:nvSpPr>
          <p:cNvPr id="21" name="Text 17"/>
          <p:cNvSpPr txBox="1"/>
          <p:nvPr/>
        </p:nvSpPr>
        <p:spPr>
          <a:xfrm>
            <a:off x="3502152" y="301752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cambios_producto</a:t>
            </a:r>
            <a:endParaRPr lang="en-US" sz="1100" dirty="0"/>
          </a:p>
        </p:txBody>
      </p:sp>
      <p:sp>
        <p:nvSpPr>
          <p:cNvPr id="22" name="Text 18"/>
          <p:cNvSpPr txBox="1"/>
          <p:nvPr/>
        </p:nvSpPr>
        <p:spPr>
          <a:xfrm>
            <a:off x="3502152" y="326440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producto · acción · campo · antes · después · usuario · fecha</a:t>
            </a:r>
            <a:endParaRPr lang="en-US" sz="950" dirty="0"/>
          </a:p>
        </p:txBody>
      </p:sp>
      <p:sp>
        <p:nvSpPr>
          <p:cNvPr id="23" name="Shape 19"/>
          <p:cNvSpPr/>
          <p:nvPr/>
        </p:nvSpPr>
        <p:spPr>
          <a:xfrm>
            <a:off x="6035040" y="1325880"/>
            <a:ext cx="2606040" cy="3429000"/>
          </a:xfrm>
          <a:prstGeom prst="roundRect">
            <a:avLst>
              <a:gd name="adj" fmla="val 4211"/>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24" name="Shape 20"/>
          <p:cNvSpPr/>
          <p:nvPr/>
        </p:nvSpPr>
        <p:spPr>
          <a:xfrm>
            <a:off x="6217920" y="1463040"/>
            <a:ext cx="457200" cy="457200"/>
          </a:xfrm>
          <a:prstGeom prst="ellipse">
            <a:avLst/>
          </a:prstGeom>
          <a:solidFill>
            <a:srgbClr val="FDE8CF"/>
          </a:solidFill>
          <a:ln w="12700">
            <a:solidFill>
              <a:srgbClr val="FDE8CF"/>
            </a:solidFill>
            <a:prstDash val="solid"/>
          </a:ln>
        </p:spPr>
      </p:sp>
      <p:pic>
        <p:nvPicPr>
          <p:cNvPr id="25" name="Image 2" descr="preencoded.png">    </p:cNvPr>
          <p:cNvPicPr>
            <a:picLocks noChangeAspect="1"/>
          </p:cNvPicPr>
          <p:nvPr/>
        </p:nvPicPr>
        <p:blipFill>
          <a:blip r:embed="rId3"/>
          <a:stretch>
            <a:fillRect/>
          </a:stretch>
        </p:blipFill>
        <p:spPr>
          <a:xfrm>
            <a:off x="6332220" y="1577340"/>
            <a:ext cx="228600" cy="228600"/>
          </a:xfrm>
          <a:prstGeom prst="rect">
            <a:avLst/>
          </a:prstGeom>
        </p:spPr>
      </p:pic>
      <p:sp>
        <p:nvSpPr>
          <p:cNvPr id="26" name="Text 21"/>
          <p:cNvSpPr txBox="1"/>
          <p:nvPr/>
        </p:nvSpPr>
        <p:spPr>
          <a:xfrm>
            <a:off x="6766560" y="1508760"/>
            <a:ext cx="1737360" cy="365760"/>
          </a:xfrm>
          <a:prstGeom prst="rect">
            <a:avLst/>
          </a:prstGeom>
          <a:noFill/>
          <a:ln/>
        </p:spPr>
        <p:txBody>
          <a:bodyPr wrap="square" lIns="0" tIns="0" rIns="0" bIns="0" rtlCol="0" anchor="ctr"/>
          <a:lstStyle/>
          <a:p>
            <a:pPr indent="0" marL="0">
              <a:buNone/>
            </a:pPr>
            <a:r>
              <a:rPr lang="en-US" sz="1600" b="1" dirty="0">
                <a:solidFill>
                  <a:srgbClr val="3B2A1E"/>
                </a:solidFill>
                <a:latin typeface="Cambria" pitchFamily="34" charset="0"/>
                <a:ea typeface="Cambria" pitchFamily="34" charset="-122"/>
                <a:cs typeface="Cambria" pitchFamily="34" charset="-120"/>
              </a:rPr>
              <a:t>sales.db</a:t>
            </a:r>
            <a:endParaRPr lang="en-US" sz="1600" dirty="0"/>
          </a:p>
        </p:txBody>
      </p:sp>
      <p:sp>
        <p:nvSpPr>
          <p:cNvPr id="27" name="Shape 22"/>
          <p:cNvSpPr/>
          <p:nvPr/>
        </p:nvSpPr>
        <p:spPr>
          <a:xfrm>
            <a:off x="6172200" y="2103120"/>
            <a:ext cx="2331720" cy="749808"/>
          </a:xfrm>
          <a:prstGeom prst="roundRect">
            <a:avLst>
              <a:gd name="adj" fmla="val 7317"/>
            </a:avLst>
          </a:prstGeom>
          <a:solidFill>
            <a:srgbClr val="FCF3E4"/>
          </a:solidFill>
          <a:ln w="12700">
            <a:solidFill>
              <a:srgbClr val="FCF3E4"/>
            </a:solidFill>
            <a:prstDash val="solid"/>
          </a:ln>
        </p:spPr>
      </p:sp>
      <p:sp>
        <p:nvSpPr>
          <p:cNvPr id="28" name="Text 23"/>
          <p:cNvSpPr txBox="1"/>
          <p:nvPr/>
        </p:nvSpPr>
        <p:spPr>
          <a:xfrm>
            <a:off x="6291072" y="214884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clientes</a:t>
            </a:r>
            <a:endParaRPr lang="en-US" sz="1100" dirty="0"/>
          </a:p>
        </p:txBody>
      </p:sp>
      <p:sp>
        <p:nvSpPr>
          <p:cNvPr id="29" name="Text 24"/>
          <p:cNvSpPr txBox="1"/>
          <p:nvPr/>
        </p:nvSpPr>
        <p:spPr>
          <a:xfrm>
            <a:off x="6291072" y="239572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id (0 = Consumidor final) · nombre</a:t>
            </a:r>
            <a:endParaRPr lang="en-US" sz="950" dirty="0"/>
          </a:p>
        </p:txBody>
      </p:sp>
      <p:sp>
        <p:nvSpPr>
          <p:cNvPr id="30" name="Shape 25"/>
          <p:cNvSpPr/>
          <p:nvPr/>
        </p:nvSpPr>
        <p:spPr>
          <a:xfrm>
            <a:off x="6172200" y="2971800"/>
            <a:ext cx="2331720" cy="749808"/>
          </a:xfrm>
          <a:prstGeom prst="roundRect">
            <a:avLst>
              <a:gd name="adj" fmla="val 7317"/>
            </a:avLst>
          </a:prstGeom>
          <a:solidFill>
            <a:srgbClr val="FCF3E4"/>
          </a:solidFill>
          <a:ln w="12700">
            <a:solidFill>
              <a:srgbClr val="FCF3E4"/>
            </a:solidFill>
            <a:prstDash val="solid"/>
          </a:ln>
        </p:spPr>
      </p:sp>
      <p:sp>
        <p:nvSpPr>
          <p:cNvPr id="31" name="Text 26"/>
          <p:cNvSpPr txBox="1"/>
          <p:nvPr/>
        </p:nvSpPr>
        <p:spPr>
          <a:xfrm>
            <a:off x="6291072" y="301752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ventas</a:t>
            </a:r>
            <a:endParaRPr lang="en-US" sz="1100" dirty="0"/>
          </a:p>
        </p:txBody>
      </p:sp>
      <p:sp>
        <p:nvSpPr>
          <p:cNvPr id="32" name="Text 27"/>
          <p:cNvSpPr txBox="1"/>
          <p:nvPr/>
        </p:nvSpPr>
        <p:spPr>
          <a:xfrm>
            <a:off x="6291072" y="326440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id · cliente · cajero · fecha · total</a:t>
            </a:r>
            <a:endParaRPr lang="en-US" sz="950" dirty="0"/>
          </a:p>
        </p:txBody>
      </p:sp>
      <p:sp>
        <p:nvSpPr>
          <p:cNvPr id="33" name="Shape 28"/>
          <p:cNvSpPr/>
          <p:nvPr/>
        </p:nvSpPr>
        <p:spPr>
          <a:xfrm>
            <a:off x="6172200" y="3840480"/>
            <a:ext cx="2331720" cy="749808"/>
          </a:xfrm>
          <a:prstGeom prst="roundRect">
            <a:avLst>
              <a:gd name="adj" fmla="val 7317"/>
            </a:avLst>
          </a:prstGeom>
          <a:solidFill>
            <a:srgbClr val="FCF3E4"/>
          </a:solidFill>
          <a:ln w="12700">
            <a:solidFill>
              <a:srgbClr val="FCF3E4"/>
            </a:solidFill>
            <a:prstDash val="solid"/>
          </a:ln>
        </p:spPr>
      </p:sp>
      <p:sp>
        <p:nvSpPr>
          <p:cNvPr id="34" name="Text 29"/>
          <p:cNvSpPr txBox="1"/>
          <p:nvPr/>
        </p:nvSpPr>
        <p:spPr>
          <a:xfrm>
            <a:off x="6291072" y="3886200"/>
            <a:ext cx="2103120" cy="256032"/>
          </a:xfrm>
          <a:prstGeom prst="rect">
            <a:avLst/>
          </a:prstGeom>
          <a:noFill/>
          <a:ln/>
        </p:spPr>
        <p:txBody>
          <a:bodyPr wrap="square" lIns="0" tIns="0" rIns="0" bIns="0" rtlCol="0" anchor="ctr"/>
          <a:lstStyle/>
          <a:p>
            <a:pPr indent="0" marL="0">
              <a:buNone/>
            </a:pPr>
            <a:r>
              <a:rPr lang="en-US" sz="1100" b="1" dirty="0">
                <a:solidFill>
                  <a:srgbClr val="A5582C"/>
                </a:solidFill>
                <a:latin typeface="Courier New" pitchFamily="34" charset="0"/>
                <a:ea typeface="Courier New" pitchFamily="34" charset="-122"/>
                <a:cs typeface="Courier New" pitchFamily="34" charset="-120"/>
              </a:rPr>
              <a:t>lineas_venta</a:t>
            </a:r>
            <a:endParaRPr lang="en-US" sz="1100" dirty="0"/>
          </a:p>
        </p:txBody>
      </p:sp>
      <p:sp>
        <p:nvSpPr>
          <p:cNvPr id="35" name="Text 30"/>
          <p:cNvSpPr txBox="1"/>
          <p:nvPr/>
        </p:nvSpPr>
        <p:spPr>
          <a:xfrm>
            <a:off x="6291072" y="4133088"/>
            <a:ext cx="2148840" cy="438912"/>
          </a:xfrm>
          <a:prstGeom prst="rect">
            <a:avLst/>
          </a:prstGeom>
          <a:noFill/>
          <a:ln/>
        </p:spPr>
        <p:txBody>
          <a:bodyPr wrap="square" lIns="0" tIns="0" rIns="0" bIns="0" rtlCol="0" anchor="t"/>
          <a:lstStyle/>
          <a:p>
            <a:pPr indent="0" marL="0">
              <a:buNone/>
            </a:pPr>
            <a:r>
              <a:rPr lang="en-US" sz="950" dirty="0">
                <a:solidFill>
                  <a:srgbClr val="3B2A1E"/>
                </a:solidFill>
                <a:latin typeface="Calibri" pitchFamily="34" charset="0"/>
                <a:ea typeface="Calibri" pitchFamily="34" charset="-122"/>
                <a:cs typeface="Calibri" pitchFamily="34" charset="-120"/>
              </a:rPr>
              <a:t>venta · producto · nombre · tipo · cantidad · precio · subtotal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B2A1E"/>
        </a:solidFill>
      </p:bgPr>
    </p:bg>
    <p:spTree>
      <p:nvGrpSpPr>
        <p:cNvPr id="1" name=""/>
        <p:cNvGrpSpPr/>
        <p:nvPr/>
      </p:nvGrpSpPr>
      <p:grpSpPr>
        <a:xfrm>
          <a:off x="0" y="0"/>
          <a:ext cx="0" cy="0"/>
          <a:chOff x="0" y="0"/>
          <a:chExt cx="0" cy="0"/>
        </a:xfrm>
      </p:grpSpPr>
      <p:sp>
        <p:nvSpPr>
          <p:cNvPr id="2" name="Text 0"/>
          <p:cNvSpPr txBox="1"/>
          <p:nvPr/>
        </p:nvSpPr>
        <p:spPr>
          <a:xfrm>
            <a:off x="731520" y="1463040"/>
            <a:ext cx="7315200" cy="457200"/>
          </a:xfrm>
          <a:prstGeom prst="rect">
            <a:avLst/>
          </a:prstGeom>
          <a:noFill/>
          <a:ln/>
        </p:spPr>
        <p:txBody>
          <a:bodyPr wrap="square" lIns="0" tIns="0" rIns="0" bIns="0" rtlCol="0" anchor="ctr"/>
          <a:lstStyle/>
          <a:p>
            <a:pPr indent="0" marL="0">
              <a:buNone/>
            </a:pPr>
            <a:r>
              <a:rPr lang="en-US" sz="1600" b="1" spc="400" kern="0" dirty="0">
                <a:solidFill>
                  <a:srgbClr val="F5B370"/>
                </a:solidFill>
                <a:latin typeface="Calibri" pitchFamily="34" charset="0"/>
                <a:ea typeface="Calibri" pitchFamily="34" charset="-122"/>
                <a:cs typeface="Calibri" pitchFamily="34" charset="-120"/>
              </a:rPr>
              <a:t>FASE 3</a:t>
            </a:r>
            <a:endParaRPr lang="en-US" sz="1600" dirty="0"/>
          </a:p>
        </p:txBody>
      </p:sp>
      <p:sp>
        <p:nvSpPr>
          <p:cNvPr id="3" name="Text 1"/>
          <p:cNvSpPr txBox="1"/>
          <p:nvPr/>
        </p:nvSpPr>
        <p:spPr>
          <a:xfrm>
            <a:off x="731520" y="192024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Implementación y pruebas</a:t>
            </a:r>
            <a:endParaRPr lang="en-US" sz="44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indent="0" marL="0">
              <a:buNone/>
            </a:pPr>
            <a:r>
              <a:rPr lang="en-US" sz="1600" dirty="0">
                <a:solidFill>
                  <a:srgbClr val="D9C7B0"/>
                </a:solidFill>
                <a:latin typeface="Calibri" pitchFamily="34" charset="0"/>
                <a:ea typeface="Calibri" pitchFamily="34" charset="-122"/>
                <a:cs typeface="Calibri" pitchFamily="34" charset="-120"/>
              </a:rPr>
              <a:t>3 microservicios en FastAPI, front-end en HTML/CSS/JS y 105 pruebas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3</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Front-end: administrador</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Dashboard con métricas del dataset · catálogo con historial de cambios</a:t>
            </a:r>
            <a:endParaRPr lang="en-US" sz="1300" dirty="0"/>
          </a:p>
        </p:txBody>
      </p:sp>
      <p:sp>
        <p:nvSpPr>
          <p:cNvPr id="6" name="Shape 4"/>
          <p:cNvSpPr/>
          <p:nvPr/>
        </p:nvSpPr>
        <p:spPr>
          <a:xfrm>
            <a:off x="420624" y="1335024"/>
            <a:ext cx="4096512" cy="1772624"/>
          </a:xfrm>
          <a:prstGeom prst="roundRect">
            <a:avLst>
              <a:gd name="adj" fmla="val 3095"/>
            </a:avLst>
          </a:prstGeom>
          <a:solidFill>
            <a:srgbClr val="FFFFFF"/>
          </a:solidFill>
          <a:ln w="12700">
            <a:solidFill>
              <a:srgbClr val="EFE2CF"/>
            </a:solidFill>
            <a:prstDash val="solid"/>
          </a:ln>
          <a:effectLst>
            <a:outerShdw sx="100000" sy="100000" kx="0" ky="0" algn="bl" rotWithShape="0" blurRad="101600" dist="25400" dir="5400000">
              <a:srgbClr val="000000">
                <a:alpha val="12000"/>
              </a:srgbClr>
            </a:outerShdw>
          </a:effectLst>
        </p:spPr>
      </p:sp>
      <p:pic>
        <p:nvPicPr>
          <p:cNvPr id="7" name="Image 0" descr="C:\Users\victo\Downloads\Proyecto Redes\proyecto-panaderia-pos\docs\evidencias\02_dashboard.jpg">    </p:cNvPr>
          <p:cNvPicPr>
            <a:picLocks noChangeAspect="1"/>
          </p:cNvPicPr>
          <p:nvPr/>
        </p:nvPicPr>
        <p:blipFill>
          <a:blip r:embed="rId1"/>
          <a:stretch>
            <a:fillRect/>
          </a:stretch>
        </p:blipFill>
        <p:spPr>
          <a:xfrm>
            <a:off x="457200" y="1371600"/>
            <a:ext cx="4023360" cy="1699472"/>
          </a:xfrm>
          <a:prstGeom prst="rect">
            <a:avLst/>
          </a:prstGeom>
        </p:spPr>
      </p:pic>
      <p:sp>
        <p:nvSpPr>
          <p:cNvPr id="8" name="Shape 5"/>
          <p:cNvSpPr/>
          <p:nvPr/>
        </p:nvSpPr>
        <p:spPr>
          <a:xfrm>
            <a:off x="4626864" y="1335024"/>
            <a:ext cx="4096512" cy="1772624"/>
          </a:xfrm>
          <a:prstGeom prst="roundRect">
            <a:avLst>
              <a:gd name="adj" fmla="val 3095"/>
            </a:avLst>
          </a:prstGeom>
          <a:solidFill>
            <a:srgbClr val="FFFFFF"/>
          </a:solidFill>
          <a:ln w="12700">
            <a:solidFill>
              <a:srgbClr val="EFE2CF"/>
            </a:solidFill>
            <a:prstDash val="solid"/>
          </a:ln>
          <a:effectLst>
            <a:outerShdw sx="100000" sy="100000" kx="0" ky="0" algn="bl" rotWithShape="0" blurRad="101600" dist="25400" dir="5400000">
              <a:srgbClr val="000000">
                <a:alpha val="12000"/>
              </a:srgbClr>
            </a:outerShdw>
          </a:effectLst>
        </p:spPr>
      </p:sp>
      <p:pic>
        <p:nvPicPr>
          <p:cNvPr id="9" name="Image 1" descr="C:\Users\victo\Downloads\Proyecto Redes\proyecto-panaderia-pos\docs\evidencias\06_catalogo_editar.jpg">    </p:cNvPr>
          <p:cNvPicPr>
            <a:picLocks noChangeAspect="1"/>
          </p:cNvPicPr>
          <p:nvPr/>
        </p:nvPicPr>
        <p:blipFill>
          <a:blip r:embed="rId2"/>
          <a:stretch>
            <a:fillRect/>
          </a:stretch>
        </p:blipFill>
        <p:spPr>
          <a:xfrm>
            <a:off x="4663440" y="1371600"/>
            <a:ext cx="4023360" cy="1699472"/>
          </a:xfrm>
          <a:prstGeom prst="rect">
            <a:avLst/>
          </a:prstGeom>
        </p:spPr>
      </p:pic>
      <p:sp>
        <p:nvSpPr>
          <p:cNvPr id="10" name="Text 6"/>
          <p:cNvSpPr txBox="1"/>
          <p:nvPr/>
        </p:nvSpPr>
        <p:spPr>
          <a:xfrm>
            <a:off x="457200" y="3246120"/>
            <a:ext cx="4023360" cy="548640"/>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Indicadores, ventas por día, top productos, top clientes y productos sin ventas</a:t>
            </a:r>
            <a:endParaRPr lang="en-US" sz="1200" dirty="0"/>
          </a:p>
        </p:txBody>
      </p:sp>
      <p:sp>
        <p:nvSpPr>
          <p:cNvPr id="11" name="Text 7"/>
          <p:cNvSpPr txBox="1"/>
          <p:nvPr/>
        </p:nvSpPr>
        <p:spPr>
          <a:xfrm>
            <a:off x="4663440" y="3246120"/>
            <a:ext cx="4023360" cy="548640"/>
          </a:xfrm>
          <a:prstGeom prst="rect">
            <a:avLst/>
          </a:prstGeom>
          <a:noFill/>
          <a:ln/>
        </p:spPr>
        <p:txBody>
          <a:bodyPr wrap="square" lIns="0" tIns="0" rIns="0" bIns="0" rtlCol="0" anchor="ctr"/>
          <a:lstStyle/>
          <a:p>
            <a:pPr indent="0" marL="0">
              <a:buNone/>
            </a:pPr>
            <a:r>
              <a:rPr lang="en-US" sz="1200" dirty="0">
                <a:solidFill>
                  <a:srgbClr val="8A7563"/>
                </a:solidFill>
                <a:latin typeface="Calibri" pitchFamily="34" charset="0"/>
                <a:ea typeface="Calibri" pitchFamily="34" charset="-122"/>
                <a:cs typeface="Calibri" pitchFamily="34" charset="-120"/>
              </a:rPr>
              <a:t>Editar precio y tipo de venta; cada cambio queda registrado con usuario y fecha</a:t>
            </a:r>
            <a:endParaRPr lang="en-US" sz="1200" dirty="0"/>
          </a:p>
        </p:txBody>
      </p:sp>
      <p:sp>
        <p:nvSpPr>
          <p:cNvPr id="12" name="Text 8"/>
          <p:cNvSpPr txBox="1"/>
          <p:nvPr/>
        </p:nvSpPr>
        <p:spPr>
          <a:xfrm>
            <a:off x="457200" y="3931920"/>
            <a:ext cx="8229600" cy="91440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3B2A1E"/>
                </a:solidFill>
                <a:latin typeface="Calibri" pitchFamily="34" charset="0"/>
                <a:ea typeface="Calibri" pitchFamily="34" charset="-122"/>
                <a:cs typeface="Calibri" pitchFamily="34" charset="-120"/>
              </a:rPr>
              <a:t>Login con rol: cada usuario entra a su pantalla</a:t>
            </a:r>
            <a:endParaRPr lang="en-US" sz="1300" dirty="0"/>
          </a:p>
          <a:p>
            <a:pPr marL="342900" indent="-342900">
              <a:spcAft>
                <a:spcPts val="600"/>
              </a:spcAft>
              <a:buSzPct val="100000"/>
              <a:buChar char="•"/>
            </a:pPr>
            <a:r>
              <a:rPr lang="en-US" sz="1300" dirty="0">
                <a:solidFill>
                  <a:srgbClr val="3B2A1E"/>
                </a:solidFill>
                <a:latin typeface="Calibri" pitchFamily="34" charset="0"/>
                <a:ea typeface="Calibri" pitchFamily="34" charset="-122"/>
                <a:cs typeface="Calibri" pitchFamily="34" charset="-120"/>
              </a:rPr>
              <a:t>El dashboard reproduce los números del dataset: 1.203 ventas, € 1.229,40, 203 clientes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3</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Front-end: cajero</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Venta con carrito, por unidades o por gramos</a:t>
            </a:r>
            <a:endParaRPr lang="en-US" sz="1300" dirty="0"/>
          </a:p>
        </p:txBody>
      </p:sp>
      <p:sp>
        <p:nvSpPr>
          <p:cNvPr id="6" name="Shape 4"/>
          <p:cNvSpPr/>
          <p:nvPr/>
        </p:nvSpPr>
        <p:spPr>
          <a:xfrm>
            <a:off x="420624" y="1335024"/>
            <a:ext cx="5010912" cy="2158868"/>
          </a:xfrm>
          <a:prstGeom prst="roundRect">
            <a:avLst>
              <a:gd name="adj" fmla="val 2541"/>
            </a:avLst>
          </a:prstGeom>
          <a:solidFill>
            <a:srgbClr val="FFFFFF"/>
          </a:solidFill>
          <a:ln w="12700">
            <a:solidFill>
              <a:srgbClr val="EFE2CF"/>
            </a:solidFill>
            <a:prstDash val="solid"/>
          </a:ln>
          <a:effectLst>
            <a:outerShdw sx="100000" sy="100000" kx="0" ky="0" algn="bl" rotWithShape="0" blurRad="101600" dist="25400" dir="5400000">
              <a:srgbClr val="000000">
                <a:alpha val="12000"/>
              </a:srgbClr>
            </a:outerShdw>
          </a:effectLst>
        </p:spPr>
      </p:sp>
      <p:pic>
        <p:nvPicPr>
          <p:cNvPr id="7" name="Image 0" descr="C:\Users\victo\Downloads\Proyecto Redes\proyecto-panaderia-pos\docs\evidencias\10_cajero_venta.jpg">    </p:cNvPr>
          <p:cNvPicPr>
            <a:picLocks noChangeAspect="1"/>
          </p:cNvPicPr>
          <p:nvPr/>
        </p:nvPicPr>
        <p:blipFill>
          <a:blip r:embed="rId1"/>
          <a:stretch>
            <a:fillRect/>
          </a:stretch>
        </p:blipFill>
        <p:spPr>
          <a:xfrm>
            <a:off x="457200" y="1371600"/>
            <a:ext cx="4937760" cy="2085716"/>
          </a:xfrm>
          <a:prstGeom prst="rect">
            <a:avLst/>
          </a:prstGeom>
        </p:spPr>
      </p:pic>
      <p:sp>
        <p:nvSpPr>
          <p:cNvPr id="8" name="Shape 5"/>
          <p:cNvSpPr/>
          <p:nvPr/>
        </p:nvSpPr>
        <p:spPr>
          <a:xfrm>
            <a:off x="5715000" y="1371600"/>
            <a:ext cx="457200" cy="457200"/>
          </a:xfrm>
          <a:prstGeom prst="ellipse">
            <a:avLst/>
          </a:prstGeom>
          <a:solidFill>
            <a:srgbClr val="FDE8CF"/>
          </a:solidFill>
          <a:ln w="12700">
            <a:solidFill>
              <a:srgbClr val="FDE8CF"/>
            </a:solidFill>
            <a:prstDash val="solid"/>
          </a:ln>
        </p:spPr>
      </p:sp>
      <p:pic>
        <p:nvPicPr>
          <p:cNvPr id="9" name="Image 1" descr="preencoded.png">    </p:cNvPr>
          <p:cNvPicPr>
            <a:picLocks noChangeAspect="1"/>
          </p:cNvPicPr>
          <p:nvPr/>
        </p:nvPicPr>
        <p:blipFill>
          <a:blip r:embed="rId2"/>
          <a:stretch>
            <a:fillRect/>
          </a:stretch>
        </p:blipFill>
        <p:spPr>
          <a:xfrm>
            <a:off x="5829300" y="1485900"/>
            <a:ext cx="228600" cy="228600"/>
          </a:xfrm>
          <a:prstGeom prst="rect">
            <a:avLst/>
          </a:prstGeom>
        </p:spPr>
      </p:pic>
      <p:sp>
        <p:nvSpPr>
          <p:cNvPr id="10" name="Text 6"/>
          <p:cNvSpPr txBox="1"/>
          <p:nvPr/>
        </p:nvSpPr>
        <p:spPr>
          <a:xfrm>
            <a:off x="6309360" y="1344168"/>
            <a:ext cx="2468880" cy="274320"/>
          </a:xfrm>
          <a:prstGeom prst="rect">
            <a:avLst/>
          </a:prstGeom>
          <a:noFill/>
          <a:ln/>
        </p:spPr>
        <p:txBody>
          <a:bodyPr wrap="square" lIns="0" tIns="0" rIns="0" bIns="0" rtlCol="0" anchor="ctr"/>
          <a:lstStyle/>
          <a:p>
            <a:pPr indent="0" marL="0">
              <a:buNone/>
            </a:pPr>
            <a:r>
              <a:rPr lang="en-US" sz="1350" b="1" dirty="0">
                <a:solidFill>
                  <a:srgbClr val="3B2A1E"/>
                </a:solidFill>
                <a:latin typeface="Calibri" pitchFamily="34" charset="0"/>
                <a:ea typeface="Calibri" pitchFamily="34" charset="-122"/>
                <a:cs typeface="Calibri" pitchFamily="34" charset="-120"/>
              </a:rPr>
              <a:t>Cliente por número o nombre</a:t>
            </a:r>
            <a:endParaRPr lang="en-US" sz="1350" dirty="0"/>
          </a:p>
        </p:txBody>
      </p:sp>
      <p:sp>
        <p:nvSpPr>
          <p:cNvPr id="11" name="Text 7"/>
          <p:cNvSpPr txBox="1"/>
          <p:nvPr/>
        </p:nvSpPr>
        <p:spPr>
          <a:xfrm>
            <a:off x="6309360" y="1618488"/>
            <a:ext cx="2468880" cy="45720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Eddy Baez quedó registrado con el #211</a:t>
            </a:r>
            <a:endParaRPr lang="en-US" sz="1100" dirty="0"/>
          </a:p>
        </p:txBody>
      </p:sp>
      <p:sp>
        <p:nvSpPr>
          <p:cNvPr id="12" name="Shape 8"/>
          <p:cNvSpPr/>
          <p:nvPr/>
        </p:nvSpPr>
        <p:spPr>
          <a:xfrm>
            <a:off x="5715000" y="2194560"/>
            <a:ext cx="457200" cy="457200"/>
          </a:xfrm>
          <a:prstGeom prst="ellipse">
            <a:avLst/>
          </a:prstGeom>
          <a:solidFill>
            <a:srgbClr val="FDE8CF"/>
          </a:solidFill>
          <a:ln w="12700">
            <a:solidFill>
              <a:srgbClr val="FDE8CF"/>
            </a:solidFill>
            <a:prstDash val="solid"/>
          </a:ln>
        </p:spPr>
      </p:sp>
      <p:pic>
        <p:nvPicPr>
          <p:cNvPr id="13" name="Image 2" descr="preencoded.png">    </p:cNvPr>
          <p:cNvPicPr>
            <a:picLocks noChangeAspect="1"/>
          </p:cNvPicPr>
          <p:nvPr/>
        </p:nvPicPr>
        <p:blipFill>
          <a:blip r:embed="rId3"/>
          <a:stretch>
            <a:fillRect/>
          </a:stretch>
        </p:blipFill>
        <p:spPr>
          <a:xfrm>
            <a:off x="5829300" y="2308860"/>
            <a:ext cx="228600" cy="228600"/>
          </a:xfrm>
          <a:prstGeom prst="rect">
            <a:avLst/>
          </a:prstGeom>
        </p:spPr>
      </p:pic>
      <p:sp>
        <p:nvSpPr>
          <p:cNvPr id="14" name="Text 9"/>
          <p:cNvSpPr txBox="1"/>
          <p:nvPr/>
        </p:nvSpPr>
        <p:spPr>
          <a:xfrm>
            <a:off x="6309360" y="2167128"/>
            <a:ext cx="2468880" cy="274320"/>
          </a:xfrm>
          <a:prstGeom prst="rect">
            <a:avLst/>
          </a:prstGeom>
          <a:noFill/>
          <a:ln/>
        </p:spPr>
        <p:txBody>
          <a:bodyPr wrap="square" lIns="0" tIns="0" rIns="0" bIns="0" rtlCol="0" anchor="ctr"/>
          <a:lstStyle/>
          <a:p>
            <a:pPr indent="0" marL="0">
              <a:buNone/>
            </a:pPr>
            <a:r>
              <a:rPr lang="en-US" sz="1350" b="1" dirty="0">
                <a:solidFill>
                  <a:srgbClr val="3B2A1E"/>
                </a:solidFill>
                <a:latin typeface="Calibri" pitchFamily="34" charset="0"/>
                <a:ea typeface="Calibri" pitchFamily="34" charset="-122"/>
                <a:cs typeface="Calibri" pitchFamily="34" charset="-120"/>
              </a:rPr>
              <a:t>Unidades o gramos</a:t>
            </a:r>
            <a:endParaRPr lang="en-US" sz="1350" dirty="0"/>
          </a:p>
        </p:txBody>
      </p:sp>
      <p:sp>
        <p:nvSpPr>
          <p:cNvPr id="15" name="Text 10"/>
          <p:cNvSpPr txBox="1"/>
          <p:nvPr/>
        </p:nvSpPr>
        <p:spPr>
          <a:xfrm>
            <a:off x="6309360" y="2441448"/>
            <a:ext cx="2468880" cy="45720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Trenza: 500 g × € 14,00/kg = € 7,00</a:t>
            </a:r>
            <a:endParaRPr lang="en-US" sz="1100" dirty="0"/>
          </a:p>
        </p:txBody>
      </p:sp>
      <p:sp>
        <p:nvSpPr>
          <p:cNvPr id="16" name="Shape 11"/>
          <p:cNvSpPr/>
          <p:nvPr/>
        </p:nvSpPr>
        <p:spPr>
          <a:xfrm>
            <a:off x="5715000" y="3017520"/>
            <a:ext cx="457200" cy="457200"/>
          </a:xfrm>
          <a:prstGeom prst="ellipse">
            <a:avLst/>
          </a:prstGeom>
          <a:solidFill>
            <a:srgbClr val="FDE8CF"/>
          </a:solidFill>
          <a:ln w="12700">
            <a:solidFill>
              <a:srgbClr val="FDE8CF"/>
            </a:solidFill>
            <a:prstDash val="solid"/>
          </a:ln>
        </p:spPr>
      </p:sp>
      <p:pic>
        <p:nvPicPr>
          <p:cNvPr id="17" name="Image 3" descr="preencoded.png">    </p:cNvPr>
          <p:cNvPicPr>
            <a:picLocks noChangeAspect="1"/>
          </p:cNvPicPr>
          <p:nvPr/>
        </p:nvPicPr>
        <p:blipFill>
          <a:blip r:embed="rId4"/>
          <a:stretch>
            <a:fillRect/>
          </a:stretch>
        </p:blipFill>
        <p:spPr>
          <a:xfrm>
            <a:off x="5829300" y="3131820"/>
            <a:ext cx="228600" cy="228600"/>
          </a:xfrm>
          <a:prstGeom prst="rect">
            <a:avLst/>
          </a:prstGeom>
        </p:spPr>
      </p:pic>
      <p:sp>
        <p:nvSpPr>
          <p:cNvPr id="18" name="Text 12"/>
          <p:cNvSpPr txBox="1"/>
          <p:nvPr/>
        </p:nvSpPr>
        <p:spPr>
          <a:xfrm>
            <a:off x="6309360" y="2990088"/>
            <a:ext cx="2468880" cy="274320"/>
          </a:xfrm>
          <a:prstGeom prst="rect">
            <a:avLst/>
          </a:prstGeom>
          <a:noFill/>
          <a:ln/>
        </p:spPr>
        <p:txBody>
          <a:bodyPr wrap="square" lIns="0" tIns="0" rIns="0" bIns="0" rtlCol="0" anchor="ctr"/>
          <a:lstStyle/>
          <a:p>
            <a:pPr indent="0" marL="0">
              <a:buNone/>
            </a:pPr>
            <a:r>
              <a:rPr lang="en-US" sz="1350" b="1" dirty="0">
                <a:solidFill>
                  <a:srgbClr val="3B2A1E"/>
                </a:solidFill>
                <a:latin typeface="Calibri" pitchFamily="34" charset="0"/>
                <a:ea typeface="Calibri" pitchFamily="34" charset="-122"/>
                <a:cs typeface="Calibri" pitchFamily="34" charset="-120"/>
              </a:rPr>
              <a:t>Un solo cobro</a:t>
            </a:r>
            <a:endParaRPr lang="en-US" sz="1350" dirty="0"/>
          </a:p>
        </p:txBody>
      </p:sp>
      <p:sp>
        <p:nvSpPr>
          <p:cNvPr id="19" name="Text 13"/>
          <p:cNvSpPr txBox="1"/>
          <p:nvPr/>
        </p:nvSpPr>
        <p:spPr>
          <a:xfrm>
            <a:off x="6309360" y="3264408"/>
            <a:ext cx="2468880" cy="45720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Una petición con todo el carrito; el back recalcula y valida</a:t>
            </a:r>
            <a:endParaRPr lang="en-US" sz="1100" dirty="0"/>
          </a:p>
        </p:txBody>
      </p:sp>
      <p:sp>
        <p:nvSpPr>
          <p:cNvPr id="20" name="Shape 14"/>
          <p:cNvSpPr/>
          <p:nvPr/>
        </p:nvSpPr>
        <p:spPr>
          <a:xfrm>
            <a:off x="5715000" y="3840480"/>
            <a:ext cx="457200" cy="457200"/>
          </a:xfrm>
          <a:prstGeom prst="ellipse">
            <a:avLst/>
          </a:prstGeom>
          <a:solidFill>
            <a:srgbClr val="FDE8CF"/>
          </a:solidFill>
          <a:ln w="12700">
            <a:solidFill>
              <a:srgbClr val="FDE8CF"/>
            </a:solidFill>
            <a:prstDash val="solid"/>
          </a:ln>
        </p:spPr>
      </p:sp>
      <p:pic>
        <p:nvPicPr>
          <p:cNvPr id="21" name="Image 4" descr="preencoded.png">    </p:cNvPr>
          <p:cNvPicPr>
            <a:picLocks noChangeAspect="1"/>
          </p:cNvPicPr>
          <p:nvPr/>
        </p:nvPicPr>
        <p:blipFill>
          <a:blip r:embed="rId5"/>
          <a:stretch>
            <a:fillRect/>
          </a:stretch>
        </p:blipFill>
        <p:spPr>
          <a:xfrm>
            <a:off x="5829300" y="3954780"/>
            <a:ext cx="228600" cy="228600"/>
          </a:xfrm>
          <a:prstGeom prst="rect">
            <a:avLst/>
          </a:prstGeom>
        </p:spPr>
      </p:pic>
      <p:sp>
        <p:nvSpPr>
          <p:cNvPr id="22" name="Text 15"/>
          <p:cNvSpPr txBox="1"/>
          <p:nvPr/>
        </p:nvSpPr>
        <p:spPr>
          <a:xfrm>
            <a:off x="6309360" y="3813048"/>
            <a:ext cx="2468880" cy="274320"/>
          </a:xfrm>
          <a:prstGeom prst="rect">
            <a:avLst/>
          </a:prstGeom>
          <a:noFill/>
          <a:ln/>
        </p:spPr>
        <p:txBody>
          <a:bodyPr wrap="square" lIns="0" tIns="0" rIns="0" bIns="0" rtlCol="0" anchor="ctr"/>
          <a:lstStyle/>
          <a:p>
            <a:pPr indent="0" marL="0">
              <a:buNone/>
            </a:pPr>
            <a:r>
              <a:rPr lang="en-US" sz="1350" b="1" dirty="0">
                <a:solidFill>
                  <a:srgbClr val="3B2A1E"/>
                </a:solidFill>
                <a:latin typeface="Calibri" pitchFamily="34" charset="0"/>
                <a:ea typeface="Calibri" pitchFamily="34" charset="-122"/>
                <a:cs typeface="Calibri" pitchFamily="34" charset="-120"/>
              </a:rPr>
              <a:t>Todo o nada</a:t>
            </a:r>
            <a:endParaRPr lang="en-US" sz="1350" dirty="0"/>
          </a:p>
        </p:txBody>
      </p:sp>
      <p:sp>
        <p:nvSpPr>
          <p:cNvPr id="23" name="Text 16"/>
          <p:cNvSpPr txBox="1"/>
          <p:nvPr/>
        </p:nvSpPr>
        <p:spPr>
          <a:xfrm>
            <a:off x="6309360" y="4087368"/>
            <a:ext cx="2468880" cy="457200"/>
          </a:xfrm>
          <a:prstGeom prst="rect">
            <a:avLst/>
          </a:prstGeom>
          <a:noFill/>
          <a:ln/>
        </p:spPr>
        <p:txBody>
          <a:bodyPr wrap="square" lIns="0" tIns="0" rIns="0" bIns="0" rtlCol="0" anchor="t"/>
          <a:lstStyle/>
          <a:p>
            <a:pPr indent="0" marL="0">
              <a:buNone/>
            </a:pPr>
            <a:r>
              <a:rPr lang="en-US" sz="1100" dirty="0">
                <a:solidFill>
                  <a:srgbClr val="8A7563"/>
                </a:solidFill>
                <a:latin typeface="Calibri" pitchFamily="34" charset="0"/>
                <a:ea typeface="Calibri" pitchFamily="34" charset="-122"/>
                <a:cs typeface="Calibri" pitchFamily="34" charset="-120"/>
              </a:rPr>
              <a:t>Si una línea falla, no se guarda nada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3</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Pruebas: 105 de 105 aprobadas</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Cada requerimiento y regla de negocio tiene al menos una prueba automática</a:t>
            </a:r>
            <a:endParaRPr lang="en-US" sz="1300" dirty="0"/>
          </a:p>
        </p:txBody>
      </p:sp>
      <p:graphicFrame>
        <p:nvGraphicFramePr>
          <p:cNvPr id="6" name="Chart 0" descr=""/>
          <p:cNvGraphicFramePr/>
          <p:nvPr/>
        </p:nvGraphicFramePr>
        <p:xfrm>
          <a:off x="365760" y="128016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212080" y="1325880"/>
            <a:ext cx="3474720" cy="749808"/>
          </a:xfrm>
          <a:prstGeom prst="roundRect">
            <a:avLst>
              <a:gd name="adj" fmla="val 1463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5394960" y="1389888"/>
            <a:ext cx="3200400" cy="274320"/>
          </a:xfrm>
          <a:prstGeom prst="rect">
            <a:avLst/>
          </a:prstGeom>
          <a:noFill/>
          <a:ln/>
        </p:spPr>
        <p:txBody>
          <a:bodyPr wrap="square" lIns="0" tIns="0" rIns="0" bIns="0" rtlCol="0" anchor="ctr"/>
          <a:lstStyle/>
          <a:p>
            <a:pPr indent="0" marL="0">
              <a:buNone/>
            </a:pPr>
            <a:r>
              <a:rPr lang="en-US" sz="1300" b="1" dirty="0">
                <a:solidFill>
                  <a:srgbClr val="A5582C"/>
                </a:solidFill>
                <a:latin typeface="Calibri" pitchFamily="34" charset="0"/>
                <a:ea typeface="Calibri" pitchFamily="34" charset="-122"/>
                <a:cs typeface="Calibri" pitchFamily="34" charset="-120"/>
              </a:rPr>
              <a:t>Unitarias</a:t>
            </a:r>
            <a:endParaRPr lang="en-US" sz="1300" dirty="0"/>
          </a:p>
        </p:txBody>
      </p:sp>
      <p:sp>
        <p:nvSpPr>
          <p:cNvPr id="9" name="Text 6"/>
          <p:cNvSpPr txBox="1"/>
          <p:nvPr/>
        </p:nvSpPr>
        <p:spPr>
          <a:xfrm>
            <a:off x="5394960" y="1655064"/>
            <a:ext cx="3200400" cy="384048"/>
          </a:xfrm>
          <a:prstGeom prst="rect">
            <a:avLst/>
          </a:prstGeom>
          <a:noFill/>
          <a:ln/>
        </p:spPr>
        <p:txBody>
          <a:bodyPr wrap="square" lIns="0" tIns="0" rIns="0" bIns="0" rtlCol="0" anchor="t"/>
          <a:lstStyle/>
          <a:p>
            <a:pPr indent="0" marL="0">
              <a:buNone/>
            </a:pPr>
            <a:r>
              <a:rPr lang="en-US" sz="1050" dirty="0">
                <a:solidFill>
                  <a:srgbClr val="3B2A1E"/>
                </a:solidFill>
                <a:latin typeface="Calibri" pitchFamily="34" charset="0"/>
                <a:ea typeface="Calibri" pitchFamily="34" charset="-122"/>
                <a:cs typeface="Calibri" pitchFamily="34" charset="-120"/>
              </a:rPr>
              <a:t>Reglas del dominio con dobles en memoria: sin base de datos ni HTTP</a:t>
            </a:r>
            <a:endParaRPr lang="en-US" sz="1050" dirty="0"/>
          </a:p>
        </p:txBody>
      </p:sp>
      <p:sp>
        <p:nvSpPr>
          <p:cNvPr id="10" name="Shape 7"/>
          <p:cNvSpPr/>
          <p:nvPr/>
        </p:nvSpPr>
        <p:spPr>
          <a:xfrm>
            <a:off x="5212080" y="2194560"/>
            <a:ext cx="3474720" cy="749808"/>
          </a:xfrm>
          <a:prstGeom prst="roundRect">
            <a:avLst>
              <a:gd name="adj" fmla="val 1463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5394960" y="2258568"/>
            <a:ext cx="3200400" cy="274320"/>
          </a:xfrm>
          <a:prstGeom prst="rect">
            <a:avLst/>
          </a:prstGeom>
          <a:noFill/>
          <a:ln/>
        </p:spPr>
        <p:txBody>
          <a:bodyPr wrap="square" lIns="0" tIns="0" rIns="0" bIns="0" rtlCol="0" anchor="ctr"/>
          <a:lstStyle/>
          <a:p>
            <a:pPr indent="0" marL="0">
              <a:buNone/>
            </a:pPr>
            <a:r>
              <a:rPr lang="en-US" sz="1300" b="1" dirty="0">
                <a:solidFill>
                  <a:srgbClr val="A5582C"/>
                </a:solidFill>
                <a:latin typeface="Calibri" pitchFamily="34" charset="0"/>
                <a:ea typeface="Calibri" pitchFamily="34" charset="-122"/>
                <a:cs typeface="Calibri" pitchFamily="34" charset="-120"/>
              </a:rPr>
              <a:t>De API</a:t>
            </a:r>
            <a:endParaRPr lang="en-US" sz="1300" dirty="0"/>
          </a:p>
        </p:txBody>
      </p:sp>
      <p:sp>
        <p:nvSpPr>
          <p:cNvPr id="12" name="Text 9"/>
          <p:cNvSpPr txBox="1"/>
          <p:nvPr/>
        </p:nvSpPr>
        <p:spPr>
          <a:xfrm>
            <a:off x="5394960" y="2523744"/>
            <a:ext cx="3200400" cy="384048"/>
          </a:xfrm>
          <a:prstGeom prst="rect">
            <a:avLst/>
          </a:prstGeom>
          <a:noFill/>
          <a:ln/>
        </p:spPr>
        <p:txBody>
          <a:bodyPr wrap="square" lIns="0" tIns="0" rIns="0" bIns="0" rtlCol="0" anchor="t"/>
          <a:lstStyle/>
          <a:p>
            <a:pPr indent="0" marL="0">
              <a:buNone/>
            </a:pPr>
            <a:r>
              <a:rPr lang="en-US" sz="1050" dirty="0">
                <a:solidFill>
                  <a:srgbClr val="3B2A1E"/>
                </a:solidFill>
                <a:latin typeface="Calibri" pitchFamily="34" charset="0"/>
                <a:ea typeface="Calibri" pitchFamily="34" charset="-122"/>
                <a:cs typeface="Calibri" pitchFamily="34" charset="-120"/>
              </a:rPr>
              <a:t>Cada servicio completo con el dataset real: códigos 201, 400, 401, 403, 404, 409, 422</a:t>
            </a:r>
            <a:endParaRPr lang="en-US" sz="1050" dirty="0"/>
          </a:p>
        </p:txBody>
      </p:sp>
      <p:sp>
        <p:nvSpPr>
          <p:cNvPr id="13" name="Shape 10"/>
          <p:cNvSpPr/>
          <p:nvPr/>
        </p:nvSpPr>
        <p:spPr>
          <a:xfrm>
            <a:off x="5212080" y="3063240"/>
            <a:ext cx="3474720" cy="749808"/>
          </a:xfrm>
          <a:prstGeom prst="roundRect">
            <a:avLst>
              <a:gd name="adj" fmla="val 14634"/>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5394960" y="3127248"/>
            <a:ext cx="3200400" cy="274320"/>
          </a:xfrm>
          <a:prstGeom prst="rect">
            <a:avLst/>
          </a:prstGeom>
          <a:noFill/>
          <a:ln/>
        </p:spPr>
        <p:txBody>
          <a:bodyPr wrap="square" lIns="0" tIns="0" rIns="0" bIns="0" rtlCol="0" anchor="ctr"/>
          <a:lstStyle/>
          <a:p>
            <a:pPr indent="0" marL="0">
              <a:buNone/>
            </a:pPr>
            <a:r>
              <a:rPr lang="en-US" sz="1300" b="1" dirty="0">
                <a:solidFill>
                  <a:srgbClr val="A5582C"/>
                </a:solidFill>
                <a:latin typeface="Calibri" pitchFamily="34" charset="0"/>
                <a:ea typeface="Calibri" pitchFamily="34" charset="-122"/>
                <a:cs typeface="Calibri" pitchFamily="34" charset="-120"/>
              </a:rPr>
              <a:t>Integración</a:t>
            </a:r>
            <a:endParaRPr lang="en-US" sz="1300" dirty="0"/>
          </a:p>
        </p:txBody>
      </p:sp>
      <p:sp>
        <p:nvSpPr>
          <p:cNvPr id="15" name="Text 12"/>
          <p:cNvSpPr txBox="1"/>
          <p:nvPr/>
        </p:nvSpPr>
        <p:spPr>
          <a:xfrm>
            <a:off x="5394960" y="3392424"/>
            <a:ext cx="3200400" cy="384048"/>
          </a:xfrm>
          <a:prstGeom prst="rect">
            <a:avLst/>
          </a:prstGeom>
          <a:noFill/>
          <a:ln/>
        </p:spPr>
        <p:txBody>
          <a:bodyPr wrap="square" lIns="0" tIns="0" rIns="0" bIns="0" rtlCol="0" anchor="t"/>
          <a:lstStyle/>
          <a:p>
            <a:pPr indent="0" marL="0">
              <a:buNone/>
            </a:pPr>
            <a:r>
              <a:rPr lang="en-US" sz="1050" dirty="0">
                <a:solidFill>
                  <a:srgbClr val="3B2A1E"/>
                </a:solidFill>
                <a:latin typeface="Calibri" pitchFamily="34" charset="0"/>
                <a:ea typeface="Calibri" pitchFamily="34" charset="-122"/>
                <a:cs typeface="Calibri" pitchFamily="34" charset="-120"/>
              </a:rPr>
              <a:t>Los 3 servicios juntos por HTTP; también se corrieron contra el servidor desplegado</a:t>
            </a:r>
            <a:endParaRPr lang="en-US" sz="1050" dirty="0"/>
          </a:p>
        </p:txBody>
      </p:sp>
      <p:sp>
        <p:nvSpPr>
          <p:cNvPr id="16" name="Shape 13"/>
          <p:cNvSpPr/>
          <p:nvPr/>
        </p:nvSpPr>
        <p:spPr>
          <a:xfrm>
            <a:off x="5212080" y="3931920"/>
            <a:ext cx="3474720" cy="749808"/>
          </a:xfrm>
          <a:prstGeom prst="roundRect">
            <a:avLst>
              <a:gd name="adj" fmla="val 14634"/>
            </a:avLst>
          </a:prstGeom>
          <a:solidFill>
            <a:srgbClr val="FFFFFF"/>
          </a:solidFill>
          <a:ln w="9525">
            <a:solidFill>
              <a:srgbClr val="EFE2CF"/>
            </a:solidFill>
            <a:prstDash val="solid"/>
          </a:ln>
          <a:effectLst>
            <a:outerShdw sx="100000" sy="100000" kx="0" ky="0" algn="bl" rotWithShape="0" blurRad="101600" dist="25400" dir="5400000">
              <a:srgbClr val="000000">
                <a:alpha val="12000"/>
              </a:srgbClr>
            </a:outerShdw>
          </a:effectLst>
        </p:spPr>
      </p:sp>
      <p:sp>
        <p:nvSpPr>
          <p:cNvPr id="17" name="Text 14"/>
          <p:cNvSpPr txBox="1"/>
          <p:nvPr/>
        </p:nvSpPr>
        <p:spPr>
          <a:xfrm>
            <a:off x="5394960" y="3995928"/>
            <a:ext cx="3200400" cy="274320"/>
          </a:xfrm>
          <a:prstGeom prst="rect">
            <a:avLst/>
          </a:prstGeom>
          <a:noFill/>
          <a:ln/>
        </p:spPr>
        <p:txBody>
          <a:bodyPr wrap="square" lIns="0" tIns="0" rIns="0" bIns="0" rtlCol="0" anchor="ctr"/>
          <a:lstStyle/>
          <a:p>
            <a:pPr indent="0" marL="0">
              <a:buNone/>
            </a:pPr>
            <a:r>
              <a:rPr lang="en-US" sz="1300" b="1" dirty="0">
                <a:solidFill>
                  <a:srgbClr val="A5582C"/>
                </a:solidFill>
                <a:latin typeface="Calibri" pitchFamily="34" charset="0"/>
                <a:ea typeface="Calibri" pitchFamily="34" charset="-122"/>
                <a:cs typeface="Calibri" pitchFamily="34" charset="-120"/>
              </a:rPr>
              <a:t>Manuales</a:t>
            </a:r>
            <a:endParaRPr lang="en-US" sz="1300" dirty="0"/>
          </a:p>
        </p:txBody>
      </p:sp>
      <p:sp>
        <p:nvSpPr>
          <p:cNvPr id="18" name="Text 15"/>
          <p:cNvSpPr txBox="1"/>
          <p:nvPr/>
        </p:nvSpPr>
        <p:spPr>
          <a:xfrm>
            <a:off x="5394960" y="4261104"/>
            <a:ext cx="3200400" cy="384048"/>
          </a:xfrm>
          <a:prstGeom prst="rect">
            <a:avLst/>
          </a:prstGeom>
          <a:noFill/>
          <a:ln/>
        </p:spPr>
        <p:txBody>
          <a:bodyPr wrap="square" lIns="0" tIns="0" rIns="0" bIns="0" rtlCol="0" anchor="t"/>
          <a:lstStyle/>
          <a:p>
            <a:pPr indent="0" marL="0">
              <a:buNone/>
            </a:pPr>
            <a:r>
              <a:rPr lang="en-US" sz="1050" dirty="0">
                <a:solidFill>
                  <a:srgbClr val="3B2A1E"/>
                </a:solidFill>
                <a:latin typeface="Calibri" pitchFamily="34" charset="0"/>
                <a:ea typeface="Calibri" pitchFamily="34" charset="-122"/>
                <a:cs typeface="Calibri" pitchFamily="34" charset="-120"/>
              </a:rPr>
              <a:t>Flujos de administrador y cajero desde el navegador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B2A1E"/>
        </a:solidFill>
      </p:bgPr>
    </p:bg>
    <p:spTree>
      <p:nvGrpSpPr>
        <p:cNvPr id="1" name=""/>
        <p:cNvGrpSpPr/>
        <p:nvPr/>
      </p:nvGrpSpPr>
      <p:grpSpPr>
        <a:xfrm>
          <a:off x="0" y="0"/>
          <a:ext cx="0" cy="0"/>
          <a:chOff x="0" y="0"/>
          <a:chExt cx="0" cy="0"/>
        </a:xfrm>
      </p:grpSpPr>
      <p:sp>
        <p:nvSpPr>
          <p:cNvPr id="2" name="Text 0"/>
          <p:cNvSpPr txBox="1"/>
          <p:nvPr/>
        </p:nvSpPr>
        <p:spPr>
          <a:xfrm>
            <a:off x="731520" y="1463040"/>
            <a:ext cx="7315200" cy="457200"/>
          </a:xfrm>
          <a:prstGeom prst="rect">
            <a:avLst/>
          </a:prstGeom>
          <a:noFill/>
          <a:ln/>
        </p:spPr>
        <p:txBody>
          <a:bodyPr wrap="square" lIns="0" tIns="0" rIns="0" bIns="0" rtlCol="0" anchor="ctr"/>
          <a:lstStyle/>
          <a:p>
            <a:pPr indent="0" marL="0">
              <a:buNone/>
            </a:pPr>
            <a:r>
              <a:rPr lang="en-US" sz="1600" b="1" spc="400" kern="0" dirty="0">
                <a:solidFill>
                  <a:srgbClr val="F5B370"/>
                </a:solidFill>
                <a:latin typeface="Calibri" pitchFamily="34" charset="0"/>
                <a:ea typeface="Calibri" pitchFamily="34" charset="-122"/>
                <a:cs typeface="Calibri" pitchFamily="34" charset="-120"/>
              </a:rPr>
              <a:t>FASE 4</a:t>
            </a:r>
            <a:endParaRPr lang="en-US" sz="1600" dirty="0"/>
          </a:p>
        </p:txBody>
      </p:sp>
      <p:sp>
        <p:nvSpPr>
          <p:cNvPr id="3" name="Text 1"/>
          <p:cNvSpPr txBox="1"/>
          <p:nvPr/>
        </p:nvSpPr>
        <p:spPr>
          <a:xfrm>
            <a:off x="731520" y="192024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Despliegue</a:t>
            </a:r>
            <a:endParaRPr lang="en-US" sz="44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indent="0" marL="0">
              <a:buNone/>
            </a:pPr>
            <a:r>
              <a:rPr lang="en-US" sz="1600" dirty="0">
                <a:solidFill>
                  <a:srgbClr val="D9C7B0"/>
                </a:solidFill>
                <a:latin typeface="Calibri" pitchFamily="34" charset="0"/>
                <a:ea typeface="Calibri" pitchFamily="34" charset="-122"/>
                <a:cs typeface="Calibri" pitchFamily="34" charset="-120"/>
              </a:rPr>
              <a:t>Dos servidores (back y front) + DNS, acceso desde Windows por dominio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4</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Despliegue con Vagrant y Ansible</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Un solo comando crea y configura las tres máquinas: vagrant up</a:t>
            </a:r>
            <a:endParaRPr lang="en-US" sz="1300" dirty="0"/>
          </a:p>
        </p:txBody>
      </p:sp>
      <p:sp>
        <p:nvSpPr>
          <p:cNvPr id="6" name="Shape 4"/>
          <p:cNvSpPr/>
          <p:nvPr/>
        </p:nvSpPr>
        <p:spPr>
          <a:xfrm>
            <a:off x="457200" y="1325880"/>
            <a:ext cx="3931920" cy="914400"/>
          </a:xfrm>
          <a:prstGeom prst="roundRect">
            <a:avLst>
              <a:gd name="adj" fmla="val 10000"/>
            </a:avLst>
          </a:prstGeom>
          <a:solidFill>
            <a:srgbClr val="3B2A1E"/>
          </a:solidFill>
          <a:ln w="12700">
            <a:solidFill>
              <a:srgbClr val="3B2A1E"/>
            </a:solidFill>
            <a:prstDash val="solid"/>
          </a:ln>
        </p:spPr>
      </p:sp>
      <p:pic>
        <p:nvPicPr>
          <p:cNvPr id="7" name="Image 0" descr="preencoded.png">    </p:cNvPr>
          <p:cNvPicPr>
            <a:picLocks noChangeAspect="1"/>
          </p:cNvPicPr>
          <p:nvPr/>
        </p:nvPicPr>
        <p:blipFill>
          <a:blip r:embed="rId1"/>
          <a:stretch>
            <a:fillRect/>
          </a:stretch>
        </p:blipFill>
        <p:spPr>
          <a:xfrm>
            <a:off x="658368" y="1581912"/>
            <a:ext cx="384048" cy="384048"/>
          </a:xfrm>
          <a:prstGeom prst="rect">
            <a:avLst/>
          </a:prstGeom>
        </p:spPr>
      </p:pic>
      <p:sp>
        <p:nvSpPr>
          <p:cNvPr id="8" name="Text 5"/>
          <p:cNvSpPr txBox="1"/>
          <p:nvPr/>
        </p:nvSpPr>
        <p:spPr>
          <a:xfrm>
            <a:off x="1234440" y="1417320"/>
            <a:ext cx="16459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dns-vm</a:t>
            </a:r>
            <a:endParaRPr lang="en-US" sz="1500" dirty="0"/>
          </a:p>
        </p:txBody>
      </p:sp>
      <p:sp>
        <p:nvSpPr>
          <p:cNvPr id="9" name="Text 6"/>
          <p:cNvSpPr txBox="1"/>
          <p:nvPr/>
        </p:nvSpPr>
        <p:spPr>
          <a:xfrm>
            <a:off x="2743200" y="1417320"/>
            <a:ext cx="1508760" cy="320040"/>
          </a:xfrm>
          <a:prstGeom prst="rect">
            <a:avLst/>
          </a:prstGeom>
          <a:noFill/>
          <a:ln/>
        </p:spPr>
        <p:txBody>
          <a:bodyPr wrap="square" lIns="0" tIns="0" rIns="0" bIns="0" rtlCol="0" anchor="ctr"/>
          <a:lstStyle/>
          <a:p>
            <a:pPr algn="r" indent="0" marL="0">
              <a:buNone/>
            </a:pPr>
            <a:r>
              <a:rPr lang="en-US" sz="1050" dirty="0">
                <a:solidFill>
                  <a:srgbClr val="F5B370"/>
                </a:solidFill>
                <a:latin typeface="Courier New" pitchFamily="34" charset="0"/>
                <a:ea typeface="Courier New" pitchFamily="34" charset="-122"/>
                <a:cs typeface="Courier New" pitchFamily="34" charset="-120"/>
              </a:rPr>
              <a:t>192.168.56.10</a:t>
            </a:r>
            <a:endParaRPr lang="en-US" sz="1050" dirty="0"/>
          </a:p>
        </p:txBody>
      </p:sp>
      <p:sp>
        <p:nvSpPr>
          <p:cNvPr id="10" name="Text 7"/>
          <p:cNvSpPr txBox="1"/>
          <p:nvPr/>
        </p:nvSpPr>
        <p:spPr>
          <a:xfrm>
            <a:off x="1234440" y="1801368"/>
            <a:ext cx="3063240" cy="320040"/>
          </a:xfrm>
          <a:prstGeom prst="rect">
            <a:avLst/>
          </a:prstGeom>
          <a:noFill/>
          <a:ln/>
        </p:spPr>
        <p:txBody>
          <a:bodyPr wrap="square" lIns="0" tIns="0" rIns="0" bIns="0" rtlCol="0" anchor="ctr"/>
          <a:lstStyle/>
          <a:p>
            <a:pPr indent="0" marL="0">
              <a:buNone/>
            </a:pPr>
            <a:r>
              <a:rPr lang="en-US" sz="1100" dirty="0">
                <a:solidFill>
                  <a:srgbClr val="D9C7B0"/>
                </a:solidFill>
                <a:latin typeface="Calibri" pitchFamily="34" charset="0"/>
                <a:ea typeface="Calibri" pitchFamily="34" charset="-122"/>
                <a:cs typeface="Calibri" pitchFamily="34" charset="-120"/>
              </a:rPr>
              <a:t>BIND9 · zona panaderia-pos.test  ·  dns.yml</a:t>
            </a:r>
            <a:endParaRPr lang="en-US" sz="1100" dirty="0"/>
          </a:p>
        </p:txBody>
      </p:sp>
      <p:sp>
        <p:nvSpPr>
          <p:cNvPr id="11" name="Shape 8"/>
          <p:cNvSpPr/>
          <p:nvPr/>
        </p:nvSpPr>
        <p:spPr>
          <a:xfrm>
            <a:off x="457200" y="2423160"/>
            <a:ext cx="3931920" cy="914400"/>
          </a:xfrm>
          <a:prstGeom prst="roundRect">
            <a:avLst>
              <a:gd name="adj" fmla="val 10000"/>
            </a:avLst>
          </a:prstGeom>
          <a:solidFill>
            <a:srgbClr val="3B2A1E"/>
          </a:solidFill>
          <a:ln w="12700">
            <a:solidFill>
              <a:srgbClr val="3B2A1E"/>
            </a:solidFill>
            <a:prstDash val="solid"/>
          </a:ln>
        </p:spPr>
      </p:sp>
      <p:pic>
        <p:nvPicPr>
          <p:cNvPr id="12" name="Image 1" descr="preencoded.png">    </p:cNvPr>
          <p:cNvPicPr>
            <a:picLocks noChangeAspect="1"/>
          </p:cNvPicPr>
          <p:nvPr/>
        </p:nvPicPr>
        <p:blipFill>
          <a:blip r:embed="rId2"/>
          <a:stretch>
            <a:fillRect/>
          </a:stretch>
        </p:blipFill>
        <p:spPr>
          <a:xfrm>
            <a:off x="658368" y="2679192"/>
            <a:ext cx="384048" cy="384048"/>
          </a:xfrm>
          <a:prstGeom prst="rect">
            <a:avLst/>
          </a:prstGeom>
        </p:spPr>
      </p:pic>
      <p:sp>
        <p:nvSpPr>
          <p:cNvPr id="13" name="Text 9"/>
          <p:cNvSpPr txBox="1"/>
          <p:nvPr/>
        </p:nvSpPr>
        <p:spPr>
          <a:xfrm>
            <a:off x="1234440" y="2514600"/>
            <a:ext cx="16459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back-vm</a:t>
            </a:r>
            <a:endParaRPr lang="en-US" sz="1500" dirty="0"/>
          </a:p>
        </p:txBody>
      </p:sp>
      <p:sp>
        <p:nvSpPr>
          <p:cNvPr id="14" name="Text 10"/>
          <p:cNvSpPr txBox="1"/>
          <p:nvPr/>
        </p:nvSpPr>
        <p:spPr>
          <a:xfrm>
            <a:off x="2743200" y="2514600"/>
            <a:ext cx="1508760" cy="320040"/>
          </a:xfrm>
          <a:prstGeom prst="rect">
            <a:avLst/>
          </a:prstGeom>
          <a:noFill/>
          <a:ln/>
        </p:spPr>
        <p:txBody>
          <a:bodyPr wrap="square" lIns="0" tIns="0" rIns="0" bIns="0" rtlCol="0" anchor="ctr"/>
          <a:lstStyle/>
          <a:p>
            <a:pPr algn="r" indent="0" marL="0">
              <a:buNone/>
            </a:pPr>
            <a:r>
              <a:rPr lang="en-US" sz="1050" dirty="0">
                <a:solidFill>
                  <a:srgbClr val="F5B370"/>
                </a:solidFill>
                <a:latin typeface="Courier New" pitchFamily="34" charset="0"/>
                <a:ea typeface="Courier New" pitchFamily="34" charset="-122"/>
                <a:cs typeface="Courier New" pitchFamily="34" charset="-120"/>
              </a:rPr>
              <a:t>192.168.56.12</a:t>
            </a:r>
            <a:endParaRPr lang="en-US" sz="1050" dirty="0"/>
          </a:p>
        </p:txBody>
      </p:sp>
      <p:sp>
        <p:nvSpPr>
          <p:cNvPr id="15" name="Text 11"/>
          <p:cNvSpPr txBox="1"/>
          <p:nvPr/>
        </p:nvSpPr>
        <p:spPr>
          <a:xfrm>
            <a:off x="1234440" y="2898648"/>
            <a:ext cx="3063240" cy="320040"/>
          </a:xfrm>
          <a:prstGeom prst="rect">
            <a:avLst/>
          </a:prstGeom>
          <a:noFill/>
          <a:ln/>
        </p:spPr>
        <p:txBody>
          <a:bodyPr wrap="square" lIns="0" tIns="0" rIns="0" bIns="0" rtlCol="0" anchor="ctr"/>
          <a:lstStyle/>
          <a:p>
            <a:pPr indent="0" marL="0">
              <a:buNone/>
            </a:pPr>
            <a:r>
              <a:rPr lang="en-US" sz="1100" dirty="0">
                <a:solidFill>
                  <a:srgbClr val="D9C7B0"/>
                </a:solidFill>
                <a:latin typeface="Calibri" pitchFamily="34" charset="0"/>
                <a:ea typeface="Calibri" pitchFamily="34" charset="-122"/>
                <a:cs typeface="Calibri" pitchFamily="34" charset="-120"/>
              </a:rPr>
              <a:t>3 servicios systemd + Nginx gateway  ·  back.yml</a:t>
            </a:r>
            <a:endParaRPr lang="en-US" sz="1100" dirty="0"/>
          </a:p>
        </p:txBody>
      </p:sp>
      <p:sp>
        <p:nvSpPr>
          <p:cNvPr id="16" name="Shape 12"/>
          <p:cNvSpPr/>
          <p:nvPr/>
        </p:nvSpPr>
        <p:spPr>
          <a:xfrm>
            <a:off x="457200" y="3520440"/>
            <a:ext cx="3931920" cy="914400"/>
          </a:xfrm>
          <a:prstGeom prst="roundRect">
            <a:avLst>
              <a:gd name="adj" fmla="val 10000"/>
            </a:avLst>
          </a:prstGeom>
          <a:solidFill>
            <a:srgbClr val="3B2A1E"/>
          </a:solidFill>
          <a:ln w="12700">
            <a:solidFill>
              <a:srgbClr val="3B2A1E"/>
            </a:solidFill>
            <a:prstDash val="solid"/>
          </a:ln>
        </p:spPr>
      </p:sp>
      <p:pic>
        <p:nvPicPr>
          <p:cNvPr id="17" name="Image 2" descr="preencoded.png">    </p:cNvPr>
          <p:cNvPicPr>
            <a:picLocks noChangeAspect="1"/>
          </p:cNvPicPr>
          <p:nvPr/>
        </p:nvPicPr>
        <p:blipFill>
          <a:blip r:embed="rId3"/>
          <a:stretch>
            <a:fillRect/>
          </a:stretch>
        </p:blipFill>
        <p:spPr>
          <a:xfrm>
            <a:off x="658368" y="3776472"/>
            <a:ext cx="384048" cy="384048"/>
          </a:xfrm>
          <a:prstGeom prst="rect">
            <a:avLst/>
          </a:prstGeom>
        </p:spPr>
      </p:pic>
      <p:sp>
        <p:nvSpPr>
          <p:cNvPr id="18" name="Text 13"/>
          <p:cNvSpPr txBox="1"/>
          <p:nvPr/>
        </p:nvSpPr>
        <p:spPr>
          <a:xfrm>
            <a:off x="1234440" y="3611880"/>
            <a:ext cx="16459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front-vm</a:t>
            </a:r>
            <a:endParaRPr lang="en-US" sz="1500" dirty="0"/>
          </a:p>
        </p:txBody>
      </p:sp>
      <p:sp>
        <p:nvSpPr>
          <p:cNvPr id="19" name="Text 14"/>
          <p:cNvSpPr txBox="1"/>
          <p:nvPr/>
        </p:nvSpPr>
        <p:spPr>
          <a:xfrm>
            <a:off x="2743200" y="3611880"/>
            <a:ext cx="1508760" cy="320040"/>
          </a:xfrm>
          <a:prstGeom prst="rect">
            <a:avLst/>
          </a:prstGeom>
          <a:noFill/>
          <a:ln/>
        </p:spPr>
        <p:txBody>
          <a:bodyPr wrap="square" lIns="0" tIns="0" rIns="0" bIns="0" rtlCol="0" anchor="ctr"/>
          <a:lstStyle/>
          <a:p>
            <a:pPr algn="r" indent="0" marL="0">
              <a:buNone/>
            </a:pPr>
            <a:r>
              <a:rPr lang="en-US" sz="1050" dirty="0">
                <a:solidFill>
                  <a:srgbClr val="F5B370"/>
                </a:solidFill>
                <a:latin typeface="Courier New" pitchFamily="34" charset="0"/>
                <a:ea typeface="Courier New" pitchFamily="34" charset="-122"/>
                <a:cs typeface="Courier New" pitchFamily="34" charset="-120"/>
              </a:rPr>
              <a:t>192.168.56.11</a:t>
            </a:r>
            <a:endParaRPr lang="en-US" sz="1050" dirty="0"/>
          </a:p>
        </p:txBody>
      </p:sp>
      <p:sp>
        <p:nvSpPr>
          <p:cNvPr id="20" name="Text 15"/>
          <p:cNvSpPr txBox="1"/>
          <p:nvPr/>
        </p:nvSpPr>
        <p:spPr>
          <a:xfrm>
            <a:off x="1234440" y="3995928"/>
            <a:ext cx="3063240" cy="320040"/>
          </a:xfrm>
          <a:prstGeom prst="rect">
            <a:avLst/>
          </a:prstGeom>
          <a:noFill/>
          <a:ln/>
        </p:spPr>
        <p:txBody>
          <a:bodyPr wrap="square" lIns="0" tIns="0" rIns="0" bIns="0" rtlCol="0" anchor="ctr"/>
          <a:lstStyle/>
          <a:p>
            <a:pPr indent="0" marL="0">
              <a:buNone/>
            </a:pPr>
            <a:r>
              <a:rPr lang="en-US" sz="1100" dirty="0">
                <a:solidFill>
                  <a:srgbClr val="D9C7B0"/>
                </a:solidFill>
                <a:latin typeface="Calibri" pitchFamily="34" charset="0"/>
                <a:ea typeface="Calibri" pitchFamily="34" charset="-122"/>
                <a:cs typeface="Calibri" pitchFamily="34" charset="-120"/>
              </a:rPr>
              <a:t>Nginx con el front-end  ·  front.yml</a:t>
            </a:r>
            <a:endParaRPr lang="en-US" sz="1100" dirty="0"/>
          </a:p>
        </p:txBody>
      </p:sp>
      <p:sp>
        <p:nvSpPr>
          <p:cNvPr id="21" name="Text 16"/>
          <p:cNvSpPr txBox="1"/>
          <p:nvPr/>
        </p:nvSpPr>
        <p:spPr>
          <a:xfrm>
            <a:off x="4754880" y="1325880"/>
            <a:ext cx="3931920" cy="320040"/>
          </a:xfrm>
          <a:prstGeom prst="rect">
            <a:avLst/>
          </a:prstGeom>
          <a:noFill/>
          <a:ln/>
        </p:spPr>
        <p:txBody>
          <a:bodyPr wrap="square" lIns="0" tIns="0" rIns="0" bIns="0" rtlCol="0" anchor="ctr"/>
          <a:lstStyle/>
          <a:p>
            <a:pPr indent="0" marL="0">
              <a:buNone/>
            </a:pPr>
            <a:r>
              <a:rPr lang="en-US" sz="1400" b="1" dirty="0">
                <a:solidFill>
                  <a:srgbClr val="3B2A1E"/>
                </a:solidFill>
                <a:latin typeface="Calibri" pitchFamily="34" charset="0"/>
                <a:ea typeface="Calibri" pitchFamily="34" charset="-122"/>
                <a:cs typeface="Calibri" pitchFamily="34" charset="-120"/>
              </a:rPr>
              <a:t>Resultado del aprovisionamiento</a:t>
            </a:r>
            <a:endParaRPr lang="en-US" sz="1400" dirty="0"/>
          </a:p>
        </p:txBody>
      </p:sp>
      <p:sp>
        <p:nvSpPr>
          <p:cNvPr id="22" name="Shape 17"/>
          <p:cNvSpPr/>
          <p:nvPr/>
        </p:nvSpPr>
        <p:spPr>
          <a:xfrm>
            <a:off x="4754880" y="1691640"/>
            <a:ext cx="3931920" cy="1097280"/>
          </a:xfrm>
          <a:prstGeom prst="roundRect">
            <a:avLst>
              <a:gd name="adj" fmla="val 6667"/>
            </a:avLst>
          </a:prstGeom>
          <a:solidFill>
            <a:srgbClr val="1E1E1E"/>
          </a:solidFill>
          <a:ln w="12700">
            <a:solidFill>
              <a:srgbClr val="1E1E1E"/>
            </a:solidFill>
            <a:prstDash val="solid"/>
          </a:ln>
        </p:spPr>
      </p:sp>
      <p:sp>
        <p:nvSpPr>
          <p:cNvPr id="23" name="Text 18"/>
          <p:cNvSpPr txBox="1"/>
          <p:nvPr/>
        </p:nvSpPr>
        <p:spPr>
          <a:xfrm>
            <a:off x="4892040" y="1783080"/>
            <a:ext cx="3703320" cy="914400"/>
          </a:xfrm>
          <a:prstGeom prst="rect">
            <a:avLst/>
          </a:prstGeom>
          <a:noFill/>
          <a:ln/>
        </p:spPr>
        <p:txBody>
          <a:bodyPr wrap="square" lIns="0" tIns="0" rIns="0" bIns="0" rtlCol="0" anchor="ctr"/>
          <a:lstStyle/>
          <a:p>
            <a:pPr indent="0" marL="0">
              <a:buNone/>
            </a:pPr>
            <a:r>
              <a:rPr lang="en-US" sz="1100" dirty="0">
                <a:solidFill>
                  <a:srgbClr val="9CDCFE"/>
                </a:solidFill>
                <a:latin typeface="Courier New" pitchFamily="34" charset="0"/>
                <a:ea typeface="Courier New" pitchFamily="34" charset="-122"/>
                <a:cs typeface="Courier New" pitchFamily="34" charset="-120"/>
              </a:rPr>
              <a:t>dns-vm   : ok=9  changed=5  failed=0</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back-vm  : ok=19 changed=15 failed=0</a:t>
            </a:r>
            <a:endParaRPr lang="en-US" sz="1100" dirty="0"/>
          </a:p>
          <a:p>
            <a:pPr indent="0" marL="0">
              <a:buNone/>
            </a:pPr>
            <a:r>
              <a:rPr lang="en-US" sz="1100" dirty="0">
                <a:solidFill>
                  <a:srgbClr val="9CDCFE"/>
                </a:solidFill>
                <a:latin typeface="Courier New" pitchFamily="34" charset="0"/>
                <a:ea typeface="Courier New" pitchFamily="34" charset="-122"/>
                <a:cs typeface="Courier New" pitchFamily="34" charset="-120"/>
              </a:rPr>
              <a:t>front-vm : ok=10 changed=7  failed=0</a:t>
            </a:r>
            <a:endParaRPr lang="en-US" sz="1100" dirty="0"/>
          </a:p>
        </p:txBody>
      </p:sp>
      <p:sp>
        <p:nvSpPr>
          <p:cNvPr id="24" name="Text 19"/>
          <p:cNvSpPr txBox="1"/>
          <p:nvPr/>
        </p:nvSpPr>
        <p:spPr>
          <a:xfrm>
            <a:off x="4754880" y="2971800"/>
            <a:ext cx="3931920" cy="182880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3B2A1E"/>
                </a:solidFill>
                <a:latin typeface="Calibri" pitchFamily="34" charset="0"/>
                <a:ea typeface="Calibri" pitchFamily="34" charset="-122"/>
                <a:cs typeface="Calibri" pitchFamily="34" charset="-120"/>
              </a:rPr>
              <a:t>Caja bento/ubuntu-22.04: misma configuración en Windows y en Mac M1</a:t>
            </a:r>
            <a:endParaRPr lang="en-US" sz="1200" dirty="0"/>
          </a:p>
          <a:p>
            <a:pPr marL="342900" indent="-342900">
              <a:spcAft>
                <a:spcPts val="600"/>
              </a:spcAft>
              <a:buSzPct val="100000"/>
              <a:buChar char="•"/>
            </a:pPr>
            <a:r>
              <a:rPr lang="en-US" sz="1200" dirty="0">
                <a:solidFill>
                  <a:srgbClr val="3B2A1E"/>
                </a:solidFill>
                <a:latin typeface="Calibri" pitchFamily="34" charset="0"/>
                <a:ea typeface="Calibri" pitchFamily="34" charset="-122"/>
                <a:cs typeface="Calibri" pitchFamily="34" charset="-120"/>
              </a:rPr>
              <a:t>Ansible corre dentro de cada máquina (ansible_local)</a:t>
            </a:r>
            <a:endParaRPr lang="en-US" sz="1200" dirty="0"/>
          </a:p>
          <a:p>
            <a:pPr marL="342900" indent="-342900">
              <a:spcAft>
                <a:spcPts val="600"/>
              </a:spcAft>
              <a:buSzPct val="100000"/>
              <a:buChar char="•"/>
            </a:pPr>
            <a:r>
              <a:rPr lang="en-US" sz="1200" dirty="0">
                <a:solidFill>
                  <a:srgbClr val="3B2A1E"/>
                </a:solidFill>
                <a:latin typeface="Calibri" pitchFamily="34" charset="0"/>
                <a:ea typeface="Calibri" pitchFamily="34" charset="-122"/>
                <a:cs typeface="Calibri" pitchFamily="34" charset="-120"/>
              </a:rPr>
              <a:t>Servicios escuchan solo en 127.0.0.1: desde fuera, solo por el gateway</a:t>
            </a:r>
            <a:endParaRPr lang="en-US" sz="1200" dirty="0"/>
          </a:p>
          <a:p>
            <a:pPr marL="342900" indent="-342900">
              <a:spcAft>
                <a:spcPts val="600"/>
              </a:spcAft>
              <a:buSzPct val="100000"/>
              <a:buChar char="•"/>
            </a:pPr>
            <a:r>
              <a:rPr lang="en-US" sz="1200" dirty="0">
                <a:solidFill>
                  <a:srgbClr val="3B2A1E"/>
                </a:solidFill>
                <a:latin typeface="Calibri" pitchFamily="34" charset="0"/>
                <a:ea typeface="Calibri" pitchFamily="34" charset="-122"/>
                <a:cs typeface="Calibri" pitchFamily="34" charset="-120"/>
              </a:rPr>
              <a:t>Las bases viven fuera del código: redesplegar no borra datos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89520" y="292608"/>
            <a:ext cx="1097280" cy="292608"/>
          </a:xfrm>
          <a:prstGeom prst="roundRect">
            <a:avLst>
              <a:gd name="adj" fmla="val 50000"/>
            </a:avLst>
          </a:prstGeom>
          <a:solidFill>
            <a:srgbClr val="FDE8CF"/>
          </a:solidFill>
          <a:ln w="12700">
            <a:solidFill>
              <a:srgbClr val="FDE8CF"/>
            </a:solidFill>
            <a:prstDash val="solid"/>
          </a:ln>
        </p:spPr>
      </p:sp>
      <p:sp>
        <p:nvSpPr>
          <p:cNvPr id="3" name="Text 1"/>
          <p:cNvSpPr txBox="1"/>
          <p:nvPr/>
        </p:nvSpPr>
        <p:spPr>
          <a:xfrm>
            <a:off x="7589520" y="292608"/>
            <a:ext cx="1097280" cy="292608"/>
          </a:xfrm>
          <a:prstGeom prst="rect">
            <a:avLst/>
          </a:prstGeom>
          <a:noFill/>
          <a:ln/>
        </p:spPr>
        <p:txBody>
          <a:bodyPr wrap="square" lIns="0" tIns="0" rIns="0" bIns="0" rtlCol="0" anchor="ctr"/>
          <a:lstStyle/>
          <a:p>
            <a:pPr algn="ctr" indent="0" marL="0">
              <a:buNone/>
            </a:pPr>
            <a:r>
              <a:rPr lang="en-US" sz="1000" b="1" dirty="0">
                <a:solidFill>
                  <a:srgbClr val="7A3E1D"/>
                </a:solidFill>
                <a:latin typeface="Calibri" pitchFamily="34" charset="0"/>
                <a:ea typeface="Calibri" pitchFamily="34" charset="-122"/>
                <a:cs typeface="Calibri" pitchFamily="34" charset="-120"/>
              </a:rPr>
              <a:t>FASE 4</a:t>
            </a:r>
            <a:endParaRPr lang="en-US" sz="1000" dirty="0"/>
          </a:p>
        </p:txBody>
      </p:sp>
      <p:sp>
        <p:nvSpPr>
          <p:cNvPr id="4" name="Text 2"/>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2A1E"/>
                </a:solidFill>
                <a:latin typeface="Cambria" pitchFamily="34" charset="0"/>
                <a:ea typeface="Cambria" pitchFamily="34" charset="-122"/>
                <a:cs typeface="Cambria" pitchFamily="34" charset="-120"/>
              </a:rPr>
              <a:t>Acceso desde Windows por dominio</a:t>
            </a:r>
            <a:endParaRPr lang="en-US" sz="2800" dirty="0"/>
          </a:p>
        </p:txBody>
      </p:sp>
      <p:sp>
        <p:nvSpPr>
          <p:cNvPr id="5" name="Text 3"/>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8A7563"/>
                </a:solidFill>
                <a:latin typeface="Calibri" pitchFamily="34" charset="0"/>
                <a:ea typeface="Calibri" pitchFamily="34" charset="-122"/>
                <a:cs typeface="Calibri" pitchFamily="34" charset="-120"/>
              </a:rPr>
              <a:t>Pruebas reales desde un cliente Windows: PowerShell y navegador</a:t>
            </a:r>
            <a:endParaRPr lang="en-US" sz="1300" dirty="0"/>
          </a:p>
        </p:txBody>
      </p:sp>
      <p:sp>
        <p:nvSpPr>
          <p:cNvPr id="6" name="Shape 4"/>
          <p:cNvSpPr/>
          <p:nvPr/>
        </p:nvSpPr>
        <p:spPr>
          <a:xfrm>
            <a:off x="457200" y="1325880"/>
            <a:ext cx="4206240" cy="2148840"/>
          </a:xfrm>
          <a:prstGeom prst="roundRect">
            <a:avLst>
              <a:gd name="adj" fmla="val 3404"/>
            </a:avLst>
          </a:prstGeom>
          <a:solidFill>
            <a:srgbClr val="012456"/>
          </a:solidFill>
          <a:ln w="12700">
            <a:solidFill>
              <a:srgbClr val="012456"/>
            </a:solidFill>
            <a:prstDash val="solid"/>
          </a:ln>
        </p:spPr>
      </p:sp>
      <p:sp>
        <p:nvSpPr>
          <p:cNvPr id="7" name="Text 5"/>
          <p:cNvSpPr txBox="1"/>
          <p:nvPr/>
        </p:nvSpPr>
        <p:spPr>
          <a:xfrm>
            <a:off x="594360" y="1417320"/>
            <a:ext cx="3977640" cy="1965960"/>
          </a:xfrm>
          <a:prstGeom prst="rect">
            <a:avLst/>
          </a:prstGeom>
          <a:noFill/>
          <a:ln/>
        </p:spPr>
        <p:txBody>
          <a:bodyPr wrap="square" lIns="0" tIns="0" rIns="0" bIns="0" rtlCol="0" anchor="ctr"/>
          <a:lstStyle/>
          <a:p>
            <a:pPr indent="0" marL="0">
              <a:buNone/>
            </a:pPr>
            <a:r>
              <a:rPr lang="en-US" sz="1050" dirty="0">
                <a:solidFill>
                  <a:srgbClr val="FFFF66"/>
                </a:solidFill>
                <a:latin typeface="Courier New" pitchFamily="34" charset="0"/>
                <a:ea typeface="Courier New" pitchFamily="34" charset="-122"/>
                <a:cs typeface="Courier New" pitchFamily="34" charset="-120"/>
              </a:rPr>
              <a:t>PS&gt; Resolve-DnsName panaderia-pos.test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panaderia-pos.test   A   192.168.56.11</a:t>
            </a:r>
            <a:endParaRPr lang="en-US" sz="1050" dirty="0"/>
          </a:p>
          <a:p>
            <a:pPr indent="0" marL="0">
              <a:buNone/>
            </a:pPr>
            <a:r>
              <a:rPr lang="en-US" sz="1050" dirty="0">
                <a:solidFill>
                  <a:srgbClr val="FFFF66"/>
                </a:solidFill>
                <a:latin typeface="Courier New" pitchFamily="34" charset="0"/>
                <a:ea typeface="Courier New" pitchFamily="34" charset="-122"/>
                <a:cs typeface="Courier New" pitchFamily="34" charset="-120"/>
              </a:rPr>
              <a:t>PS&gt; Resolve-DnsName api.panaderia-pos.test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api.panaderia-pos.test   A   192.168.56.12</a:t>
            </a:r>
            <a:endParaRPr lang="en-US" sz="1050" dirty="0"/>
          </a:p>
          <a:p>
            <a:pPr indent="0" marL="0">
              <a:buNone/>
            </a:pPr>
            <a:r>
              <a:rPr lang="en-US" sz="1050" dirty="0">
                <a:solidFill>
                  <a:srgbClr val="FFFF66"/>
                </a:solidFill>
                <a:latin typeface="Courier New" pitchFamily="34" charset="0"/>
                <a:ea typeface="Courier New" pitchFamily="34" charset="-122"/>
                <a:cs typeface="Courier New" pitchFamily="34" charset="-120"/>
              </a:rPr>
              <a:t>PS&gt; curl.exe http://api.panaderia-pos.test/</a:t>
            </a:r>
            <a:endParaRPr lang="en-US" sz="1050" dirty="0"/>
          </a:p>
          <a:p>
            <a:pPr indent="0" marL="0">
              <a:buNone/>
            </a:pPr>
            <a:r>
              <a:rPr lang="en-US" sz="1050" dirty="0">
                <a:solidFill>
                  <a:srgbClr val="FFFF66"/>
                </a:solidFill>
                <a:latin typeface="Courier New" pitchFamily="34" charset="0"/>
                <a:ea typeface="Courier New" pitchFamily="34" charset="-122"/>
                <a:cs typeface="Courier New" pitchFamily="34" charset="-120"/>
              </a:rPr>
              <a:t>        api/v1/sales/health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{"status":"ok","service":"sales"}</a:t>
            </a:r>
            <a:endParaRPr lang="en-US" sz="1050" dirty="0"/>
          </a:p>
        </p:txBody>
      </p:sp>
      <p:sp>
        <p:nvSpPr>
          <p:cNvPr id="8" name="Shape 6"/>
          <p:cNvSpPr/>
          <p:nvPr/>
        </p:nvSpPr>
        <p:spPr>
          <a:xfrm>
            <a:off x="4809744" y="1289304"/>
            <a:ext cx="3913632" cy="1695375"/>
          </a:xfrm>
          <a:prstGeom prst="roundRect">
            <a:avLst>
              <a:gd name="adj" fmla="val 3236"/>
            </a:avLst>
          </a:prstGeom>
          <a:solidFill>
            <a:srgbClr val="FFFFFF"/>
          </a:solidFill>
          <a:ln w="12700">
            <a:solidFill>
              <a:srgbClr val="EFE2CF"/>
            </a:solidFill>
            <a:prstDash val="solid"/>
          </a:ln>
          <a:effectLst>
            <a:outerShdw sx="100000" sy="100000" kx="0" ky="0" algn="bl" rotWithShape="0" blurRad="101600" dist="25400" dir="5400000">
              <a:srgbClr val="000000">
                <a:alpha val="12000"/>
              </a:srgbClr>
            </a:outerShdw>
          </a:effectLst>
        </p:spPr>
      </p:sp>
      <p:pic>
        <p:nvPicPr>
          <p:cNvPr id="9" name="Image 0" descr="C:\Users\victo\Downloads\Proyecto Redes\proyecto-panaderia-pos\docs\evidencias\09_swagger_sales.jpg">    </p:cNvPr>
          <p:cNvPicPr>
            <a:picLocks noChangeAspect="1"/>
          </p:cNvPicPr>
          <p:nvPr/>
        </p:nvPicPr>
        <p:blipFill>
          <a:blip r:embed="rId1"/>
          <a:stretch>
            <a:fillRect/>
          </a:stretch>
        </p:blipFill>
        <p:spPr>
          <a:xfrm>
            <a:off x="4846320" y="1325880"/>
            <a:ext cx="3840480" cy="1622223"/>
          </a:xfrm>
          <a:prstGeom prst="rect">
            <a:avLst/>
          </a:prstGeom>
        </p:spPr>
      </p:pic>
      <p:sp>
        <p:nvSpPr>
          <p:cNvPr id="10" name="Text 7"/>
          <p:cNvSpPr txBox="1"/>
          <p:nvPr/>
        </p:nvSpPr>
        <p:spPr>
          <a:xfrm>
            <a:off x="4846320" y="3017520"/>
            <a:ext cx="3840480" cy="457200"/>
          </a:xfrm>
          <a:prstGeom prst="rect">
            <a:avLst/>
          </a:prstGeom>
          <a:noFill/>
          <a:ln/>
        </p:spPr>
        <p:txBody>
          <a:bodyPr wrap="square" lIns="0" tIns="0" rIns="0" bIns="0" rtlCol="0" anchor="ctr"/>
          <a:lstStyle/>
          <a:p>
            <a:pPr indent="0" marL="0">
              <a:buNone/>
            </a:pPr>
            <a:r>
              <a:rPr lang="en-US" sz="1100" dirty="0">
                <a:solidFill>
                  <a:srgbClr val="8A7563"/>
                </a:solidFill>
                <a:latin typeface="Calibri" pitchFamily="34" charset="0"/>
                <a:ea typeface="Calibri" pitchFamily="34" charset="-122"/>
                <a:cs typeface="Calibri" pitchFamily="34" charset="-120"/>
              </a:rPr>
              <a:t>Swagger del back por el gateway: api.panaderia-pos.test/api/v1/sales/docs</a:t>
            </a:r>
            <a:endParaRPr lang="en-US" sz="1100" dirty="0"/>
          </a:p>
        </p:txBody>
      </p:sp>
      <p:sp>
        <p:nvSpPr>
          <p:cNvPr id="11" name="Shape 8"/>
          <p:cNvSpPr/>
          <p:nvPr/>
        </p:nvSpPr>
        <p:spPr>
          <a:xfrm>
            <a:off x="457200" y="3749040"/>
            <a:ext cx="2606040" cy="868680"/>
          </a:xfrm>
          <a:prstGeom prst="roundRect">
            <a:avLst>
              <a:gd name="adj" fmla="val 12632"/>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621792" y="3977640"/>
            <a:ext cx="384048" cy="384048"/>
          </a:xfrm>
          <a:prstGeom prst="rect">
            <a:avLst/>
          </a:prstGeom>
        </p:spPr>
      </p:pic>
      <p:sp>
        <p:nvSpPr>
          <p:cNvPr id="13" name="Text 9"/>
          <p:cNvSpPr txBox="1"/>
          <p:nvPr/>
        </p:nvSpPr>
        <p:spPr>
          <a:xfrm>
            <a:off x="1115568" y="3794760"/>
            <a:ext cx="1874520" cy="777240"/>
          </a:xfrm>
          <a:prstGeom prst="rect">
            <a:avLst/>
          </a:prstGeom>
          <a:noFill/>
          <a:ln/>
        </p:spPr>
        <p:txBody>
          <a:bodyPr wrap="square" lIns="0" tIns="0" rIns="0" bIns="0" rtlCol="0" anchor="ctr"/>
          <a:lstStyle/>
          <a:p>
            <a:pPr indent="0" marL="0">
              <a:buNone/>
            </a:pPr>
            <a:r>
              <a:rPr lang="en-US" sz="1200" b="1" dirty="0">
                <a:solidFill>
                  <a:srgbClr val="3B2A1E"/>
                </a:solidFill>
                <a:latin typeface="Calibri" pitchFamily="34" charset="0"/>
                <a:ea typeface="Calibri" pitchFamily="34" charset="-122"/>
                <a:cs typeface="Calibri" pitchFamily="34" charset="-120"/>
              </a:rPr>
              <a:t>Dos servidores: back-vm (back) y front-vm (front)</a:t>
            </a:r>
            <a:endParaRPr lang="en-US" sz="1200" dirty="0"/>
          </a:p>
        </p:txBody>
      </p:sp>
      <p:sp>
        <p:nvSpPr>
          <p:cNvPr id="14" name="Shape 10"/>
          <p:cNvSpPr/>
          <p:nvPr/>
        </p:nvSpPr>
        <p:spPr>
          <a:xfrm>
            <a:off x="3246120" y="3749040"/>
            <a:ext cx="2606040" cy="868680"/>
          </a:xfrm>
          <a:prstGeom prst="roundRect">
            <a:avLst>
              <a:gd name="adj" fmla="val 12632"/>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3410712" y="3977640"/>
            <a:ext cx="384048" cy="384048"/>
          </a:xfrm>
          <a:prstGeom prst="rect">
            <a:avLst/>
          </a:prstGeom>
        </p:spPr>
      </p:pic>
      <p:sp>
        <p:nvSpPr>
          <p:cNvPr id="16" name="Text 11"/>
          <p:cNvSpPr txBox="1"/>
          <p:nvPr/>
        </p:nvSpPr>
        <p:spPr>
          <a:xfrm>
            <a:off x="3904488" y="3794760"/>
            <a:ext cx="1874520" cy="777240"/>
          </a:xfrm>
          <a:prstGeom prst="rect">
            <a:avLst/>
          </a:prstGeom>
          <a:noFill/>
          <a:ln/>
        </p:spPr>
        <p:txBody>
          <a:bodyPr wrap="square" lIns="0" tIns="0" rIns="0" bIns="0" rtlCol="0" anchor="ctr"/>
          <a:lstStyle/>
          <a:p>
            <a:pPr indent="0" marL="0">
              <a:buNone/>
            </a:pPr>
            <a:r>
              <a:rPr lang="en-US" sz="1200" b="1" dirty="0">
                <a:solidFill>
                  <a:srgbClr val="3B2A1E"/>
                </a:solidFill>
                <a:latin typeface="Calibri" pitchFamily="34" charset="0"/>
                <a:ea typeface="Calibri" pitchFamily="34" charset="-122"/>
                <a:cs typeface="Calibri" pitchFamily="34" charset="-120"/>
              </a:rPr>
              <a:t>Pruebas de acceso desde un cliente Windows</a:t>
            </a:r>
            <a:endParaRPr lang="en-US" sz="1200" dirty="0"/>
          </a:p>
        </p:txBody>
      </p:sp>
      <p:sp>
        <p:nvSpPr>
          <p:cNvPr id="17" name="Shape 12"/>
          <p:cNvSpPr/>
          <p:nvPr/>
        </p:nvSpPr>
        <p:spPr>
          <a:xfrm>
            <a:off x="6035040" y="3749040"/>
            <a:ext cx="2606040" cy="868680"/>
          </a:xfrm>
          <a:prstGeom prst="roundRect">
            <a:avLst>
              <a:gd name="adj" fmla="val 12632"/>
            </a:avLst>
          </a:prstGeom>
          <a:solidFill>
            <a:srgbClr val="FCF3E4"/>
          </a:solidFill>
          <a:ln w="9525">
            <a:solidFill>
              <a:srgbClr val="EFE2CF"/>
            </a:solidFill>
            <a:prstDash val="solid"/>
          </a:ln>
          <a:effectLst>
            <a:outerShdw sx="100000" sy="100000" kx="0" ky="0" algn="bl" rotWithShape="0" blurRad="101600" dist="25400" dir="54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6199632" y="3977640"/>
            <a:ext cx="384048" cy="384048"/>
          </a:xfrm>
          <a:prstGeom prst="rect">
            <a:avLst/>
          </a:prstGeom>
        </p:spPr>
      </p:pic>
      <p:sp>
        <p:nvSpPr>
          <p:cNvPr id="19" name="Text 13"/>
          <p:cNvSpPr txBox="1"/>
          <p:nvPr/>
        </p:nvSpPr>
        <p:spPr>
          <a:xfrm>
            <a:off x="6693408" y="3794760"/>
            <a:ext cx="1874520" cy="777240"/>
          </a:xfrm>
          <a:prstGeom prst="rect">
            <a:avLst/>
          </a:prstGeom>
          <a:noFill/>
          <a:ln/>
        </p:spPr>
        <p:txBody>
          <a:bodyPr wrap="square" lIns="0" tIns="0" rIns="0" bIns="0" rtlCol="0" anchor="ctr"/>
          <a:lstStyle/>
          <a:p>
            <a:pPr indent="0" marL="0">
              <a:buNone/>
            </a:pPr>
            <a:r>
              <a:rPr lang="en-US" sz="1200" b="1" dirty="0">
                <a:solidFill>
                  <a:srgbClr val="3B2A1E"/>
                </a:solidFill>
                <a:latin typeface="Calibri" pitchFamily="34" charset="0"/>
                <a:ea typeface="Calibri" pitchFamily="34" charset="-122"/>
                <a:cs typeface="Calibri" pitchFamily="34" charset="-120"/>
              </a:rPr>
              <a:t>Acceso por el dominio panaderia-pos.test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B2A1E"/>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Resultado</a:t>
            </a:r>
            <a:endParaRPr lang="en-US" sz="3600" dirty="0"/>
          </a:p>
        </p:txBody>
      </p:sp>
      <p:sp>
        <p:nvSpPr>
          <p:cNvPr id="3" name="Text 1"/>
          <p:cNvSpPr txBox="1"/>
          <p:nvPr/>
        </p:nvSpPr>
        <p:spPr>
          <a:xfrm>
            <a:off x="548640" y="1371600"/>
            <a:ext cx="1828800" cy="731520"/>
          </a:xfrm>
          <a:prstGeom prst="rect">
            <a:avLst/>
          </a:prstGeom>
          <a:noFill/>
          <a:ln/>
        </p:spPr>
        <p:txBody>
          <a:bodyPr wrap="square" lIns="0" tIns="0" rIns="0" bIns="0" rtlCol="0" anchor="ctr"/>
          <a:lstStyle/>
          <a:p>
            <a:pPr indent="0" marL="0">
              <a:buNone/>
            </a:pPr>
            <a:r>
              <a:rPr lang="en-US" sz="4000" b="1" dirty="0">
                <a:solidFill>
                  <a:srgbClr val="F5B370"/>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548640" y="2103120"/>
            <a:ext cx="1828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microservicios</a:t>
            </a:r>
            <a:endParaRPr lang="en-US" sz="1400" dirty="0"/>
          </a:p>
        </p:txBody>
      </p:sp>
      <p:sp>
        <p:nvSpPr>
          <p:cNvPr id="5" name="Text 3"/>
          <p:cNvSpPr txBox="1"/>
          <p:nvPr/>
        </p:nvSpPr>
        <p:spPr>
          <a:xfrm>
            <a:off x="2606040" y="1371600"/>
            <a:ext cx="1828800" cy="731520"/>
          </a:xfrm>
          <a:prstGeom prst="rect">
            <a:avLst/>
          </a:prstGeom>
          <a:noFill/>
          <a:ln/>
        </p:spPr>
        <p:txBody>
          <a:bodyPr wrap="square" lIns="0" tIns="0" rIns="0" bIns="0" rtlCol="0" anchor="ctr"/>
          <a:lstStyle/>
          <a:p>
            <a:pPr indent="0" marL="0">
              <a:buNone/>
            </a:pPr>
            <a:r>
              <a:rPr lang="en-US" sz="4000" b="1" dirty="0">
                <a:solidFill>
                  <a:srgbClr val="F5B370"/>
                </a:solidFill>
                <a:latin typeface="Cambria" pitchFamily="34" charset="0"/>
                <a:ea typeface="Cambria" pitchFamily="34" charset="-122"/>
                <a:cs typeface="Cambria" pitchFamily="34" charset="-120"/>
              </a:rPr>
              <a:t>21</a:t>
            </a:r>
            <a:endParaRPr lang="en-US" sz="4000" dirty="0"/>
          </a:p>
        </p:txBody>
      </p:sp>
      <p:sp>
        <p:nvSpPr>
          <p:cNvPr id="6" name="Text 4"/>
          <p:cNvSpPr txBox="1"/>
          <p:nvPr/>
        </p:nvSpPr>
        <p:spPr>
          <a:xfrm>
            <a:off x="2606040" y="2103120"/>
            <a:ext cx="1828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endpoints REST</a:t>
            </a:r>
            <a:endParaRPr lang="en-US" sz="1400" dirty="0"/>
          </a:p>
        </p:txBody>
      </p:sp>
      <p:sp>
        <p:nvSpPr>
          <p:cNvPr id="7" name="Text 5"/>
          <p:cNvSpPr txBox="1"/>
          <p:nvPr/>
        </p:nvSpPr>
        <p:spPr>
          <a:xfrm>
            <a:off x="4663440" y="1371600"/>
            <a:ext cx="1828800" cy="731520"/>
          </a:xfrm>
          <a:prstGeom prst="rect">
            <a:avLst/>
          </a:prstGeom>
          <a:noFill/>
          <a:ln/>
        </p:spPr>
        <p:txBody>
          <a:bodyPr wrap="square" lIns="0" tIns="0" rIns="0" bIns="0" rtlCol="0" anchor="ctr"/>
          <a:lstStyle/>
          <a:p>
            <a:pPr indent="0" marL="0">
              <a:buNone/>
            </a:pPr>
            <a:r>
              <a:rPr lang="en-US" sz="4000" b="1" dirty="0">
                <a:solidFill>
                  <a:srgbClr val="F5B370"/>
                </a:solidFill>
                <a:latin typeface="Cambria" pitchFamily="34" charset="0"/>
                <a:ea typeface="Cambria" pitchFamily="34" charset="-122"/>
                <a:cs typeface="Cambria" pitchFamily="34" charset="-120"/>
              </a:rPr>
              <a:t>105</a:t>
            </a:r>
            <a:endParaRPr lang="en-US" sz="4000" dirty="0"/>
          </a:p>
        </p:txBody>
      </p:sp>
      <p:sp>
        <p:nvSpPr>
          <p:cNvPr id="8" name="Text 6"/>
          <p:cNvSpPr txBox="1"/>
          <p:nvPr/>
        </p:nvSpPr>
        <p:spPr>
          <a:xfrm>
            <a:off x="4663440" y="2103120"/>
            <a:ext cx="1828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pruebas aprobadas</a:t>
            </a:r>
            <a:endParaRPr lang="en-US" sz="1400" dirty="0"/>
          </a:p>
        </p:txBody>
      </p:sp>
      <p:sp>
        <p:nvSpPr>
          <p:cNvPr id="9" name="Text 7"/>
          <p:cNvSpPr txBox="1"/>
          <p:nvPr/>
        </p:nvSpPr>
        <p:spPr>
          <a:xfrm>
            <a:off x="6720840" y="1371600"/>
            <a:ext cx="1828800" cy="731520"/>
          </a:xfrm>
          <a:prstGeom prst="rect">
            <a:avLst/>
          </a:prstGeom>
          <a:noFill/>
          <a:ln/>
        </p:spPr>
        <p:txBody>
          <a:bodyPr wrap="square" lIns="0" tIns="0" rIns="0" bIns="0" rtlCol="0" anchor="ctr"/>
          <a:lstStyle/>
          <a:p>
            <a:pPr indent="0" marL="0">
              <a:buNone/>
            </a:pPr>
            <a:r>
              <a:rPr lang="en-US" sz="4000" b="1" dirty="0">
                <a:solidFill>
                  <a:srgbClr val="F5B370"/>
                </a:solidFill>
                <a:latin typeface="Cambria" pitchFamily="34" charset="0"/>
                <a:ea typeface="Cambria" pitchFamily="34" charset="-122"/>
                <a:cs typeface="Cambria" pitchFamily="34" charset="-120"/>
              </a:rPr>
              <a:t>3</a:t>
            </a:r>
            <a:endParaRPr lang="en-US" sz="4000" dirty="0"/>
          </a:p>
        </p:txBody>
      </p:sp>
      <p:sp>
        <p:nvSpPr>
          <p:cNvPr id="10" name="Text 8"/>
          <p:cNvSpPr txBox="1"/>
          <p:nvPr/>
        </p:nvSpPr>
        <p:spPr>
          <a:xfrm>
            <a:off x="6720840" y="2103120"/>
            <a:ext cx="1828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máquinas virtuales</a:t>
            </a:r>
            <a:endParaRPr lang="en-US" sz="1400" dirty="0"/>
          </a:p>
        </p:txBody>
      </p:sp>
      <p:sp>
        <p:nvSpPr>
          <p:cNvPr id="11" name="Text 9"/>
          <p:cNvSpPr txBox="1"/>
          <p:nvPr/>
        </p:nvSpPr>
        <p:spPr>
          <a:xfrm>
            <a:off x="548640" y="2926080"/>
            <a:ext cx="5486400" cy="1005840"/>
          </a:xfrm>
          <a:prstGeom prst="rect">
            <a:avLst/>
          </a:prstGeom>
          <a:noFill/>
          <a:ln/>
        </p:spPr>
        <p:txBody>
          <a:bodyPr wrap="square" lIns="0" tIns="0" rIns="0" bIns="0" rtlCol="0" anchor="ctr"/>
          <a:lstStyle/>
          <a:p>
            <a:pPr indent="0" marL="0">
              <a:buNone/>
            </a:pPr>
            <a:r>
              <a:rPr lang="en-US" sz="1500" b="1" dirty="0">
                <a:solidFill>
                  <a:srgbClr val="F5B370"/>
                </a:solidFill>
                <a:latin typeface="Calibri" pitchFamily="34" charset="0"/>
                <a:ea typeface="Calibri" pitchFamily="34" charset="-122"/>
                <a:cs typeface="Calibri" pitchFamily="34" charset="-120"/>
              </a:rPr>
              <a:t>Aplicación: </a:t>
            </a:r>
            <a:pPr indent="0" marL="0">
              <a:buNone/>
            </a:pPr>
            <a:r>
              <a:rPr lang="en-US" sz="1500" dirty="0">
                <a:solidFill>
                  <a:srgbClr val="FFFFFF"/>
                </a:solidFill>
                <a:latin typeface="Calibri" pitchFamily="34" charset="0"/>
                <a:ea typeface="Calibri" pitchFamily="34" charset="-122"/>
                <a:cs typeface="Calibri" pitchFamily="34" charset="-120"/>
              </a:rPr>
              <a:t>http://panaderia-pos.test</a:t>
            </a:r>
            <a:endParaRPr lang="en-US" sz="1500" dirty="0"/>
          </a:p>
          <a:p>
            <a:pPr indent="0" marL="0">
              <a:buNone/>
            </a:pPr>
            <a:r>
              <a:rPr lang="en-US" sz="1500" b="1" dirty="0">
                <a:solidFill>
                  <a:srgbClr val="F5B370"/>
                </a:solidFill>
                <a:latin typeface="Calibri" pitchFamily="34" charset="0"/>
                <a:ea typeface="Calibri" pitchFamily="34" charset="-122"/>
                <a:cs typeface="Calibri" pitchFamily="34" charset="-120"/>
              </a:rPr>
              <a:t>API: </a:t>
            </a:r>
            <a:pPr indent="0" marL="0">
              <a:buNone/>
            </a:pPr>
            <a:r>
              <a:rPr lang="en-US" sz="1500" dirty="0">
                <a:solidFill>
                  <a:srgbClr val="FFFFFF"/>
                </a:solidFill>
                <a:latin typeface="Calibri" pitchFamily="34" charset="0"/>
                <a:ea typeface="Calibri" pitchFamily="34" charset="-122"/>
                <a:cs typeface="Calibri" pitchFamily="34" charset="-120"/>
              </a:rPr>
              <a:t>http://api.panaderia-pos.test</a:t>
            </a:r>
            <a:endParaRPr lang="en-US" sz="1500" dirty="0"/>
          </a:p>
          <a:p>
            <a:pPr indent="0" marL="0">
              <a:buNone/>
            </a:pPr>
            <a:r>
              <a:rPr lang="en-US" sz="1500" b="1" dirty="0">
                <a:solidFill>
                  <a:srgbClr val="F5B370"/>
                </a:solidFill>
                <a:latin typeface="Calibri" pitchFamily="34" charset="0"/>
                <a:ea typeface="Calibri" pitchFamily="34" charset="-122"/>
                <a:cs typeface="Calibri" pitchFamily="34" charset="-120"/>
              </a:rPr>
              <a:t>Código: </a:t>
            </a:r>
            <a:pPr indent="0" marL="0">
              <a:buNone/>
            </a:pPr>
            <a:r>
              <a:rPr lang="en-US" sz="1500" dirty="0">
                <a:solidFill>
                  <a:srgbClr val="FFFFFF"/>
                </a:solidFill>
                <a:latin typeface="Calibri" pitchFamily="34" charset="0"/>
                <a:ea typeface="Calibri" pitchFamily="34" charset="-122"/>
                <a:cs typeface="Calibri" pitchFamily="34" charset="-120"/>
              </a:rPr>
              <a:t>github.com/oraboni08/proyecto-panaderia-pos</a:t>
            </a:r>
            <a:endParaRPr lang="en-US" sz="1500" dirty="0"/>
          </a:p>
        </p:txBody>
      </p:sp>
      <p:sp>
        <p:nvSpPr>
          <p:cNvPr id="12" name="Text 10"/>
          <p:cNvSpPr txBox="1"/>
          <p:nvPr/>
        </p:nvSpPr>
        <p:spPr>
          <a:xfrm>
            <a:off x="548640" y="4206240"/>
            <a:ext cx="7315200" cy="457200"/>
          </a:xfrm>
          <a:prstGeom prst="rect">
            <a:avLst/>
          </a:prstGeom>
          <a:noFill/>
          <a:ln/>
        </p:spPr>
        <p:txBody>
          <a:bodyPr wrap="square" lIns="0" tIns="0" rIns="0" bIns="0" rtlCol="0" anchor="ctr"/>
          <a:lstStyle/>
          <a:p>
            <a:pPr indent="0" marL="0">
              <a:buNone/>
            </a:pPr>
            <a:r>
              <a:rPr lang="en-US" sz="2000" i="1" dirty="0">
                <a:solidFill>
                  <a:srgbClr val="D9C7B0"/>
                </a:solidFill>
                <a:latin typeface="Cambria" pitchFamily="34" charset="0"/>
                <a:ea typeface="Cambria" pitchFamily="34" charset="-122"/>
                <a:cs typeface="Cambria" pitchFamily="34" charset="-120"/>
              </a:rPr>
              <a:t>¡Gracias!  ·  Demo en vivo</a:t>
            </a:r>
            <a:endParaRPr lang="en-US" sz="2000" dirty="0"/>
          </a:p>
        </p:txBody>
      </p:sp>
      <p:pic>
        <p:nvPicPr>
          <p:cNvPr id="13" name="Image 0" descr="preencoded.png">    </p:cNvPr>
          <p:cNvPicPr>
            <a:picLocks noChangeAspect="1"/>
          </p:cNvPicPr>
          <p:nvPr/>
        </p:nvPicPr>
        <p:blipFill>
          <a:blip r:embed="rId1"/>
          <a:stretch>
            <a:fillRect/>
          </a:stretch>
        </p:blipFill>
        <p:spPr>
          <a:xfrm>
            <a:off x="7680960" y="3931920"/>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Panadería POS — Proyecto 1 Redes e Infraestructura</dc:title>
  <dc:subject>PptxGenJS Presentation</dc:subject>
  <dc:creator>Victoria Herrera</dc:creator>
  <cp:lastModifiedBy>Victoria Herrera</cp:lastModifiedBy>
  <cp:revision>1</cp:revision>
  <dcterms:created xsi:type="dcterms:W3CDTF">2026-10-01T15:13:00Z</dcterms:created>
  <dcterms:modified xsi:type="dcterms:W3CDTF">2026-10-01T15:13:00Z</dcterms:modified>
</cp:coreProperties>
</file>